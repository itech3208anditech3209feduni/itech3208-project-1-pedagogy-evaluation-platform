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Sprint 3 on the Pedagogy Evaluation Platform. Three things: optional demographic collection, a much bigger admin dashboard, and proper validation on survey completion. Move on quickly — the title slide is not where the value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came out of the sprint planning meeting. R1 demographics, R2 the dashboard, R3 validation, R4 verify by testing. Do not read the slide aloud — let them read, and summarise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are done and verified. The build is ready for formal testing. I will be honest about what is still outstanding at the end — signalling that early buys credibility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if you had not answered, Next was just greyed out with no explanation. Now you are told why. At the end a review screen shows all twenty answers. The important part is the third point: there is a single gate in the code. Nothing is scored, stored or emailed until all twenty questions have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site. Acts 1 and 2 of DEMO_SCRIPT.md. Answer two questions; on the third click Next with nothing selected so the error appears; select an answer so it clears; open Review answers; submit while incomplete so it is refused; then finish with keys 1-5 and Enter and submit. Budget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finishing, the participant is asked once whether they are happy to give demographic details. Yes goes to a page, no goes straight to results. Either way they are one click from their results — the optional step never blocks them. Three fields, and every one has a prefer-not-to-say option, so we never force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the actual requirement — slow down. The requirement said demographics must be linked to the same survey response, so they are stored against the same session as the scores. Second point is the one to highlight: we record declines too. Without that we could never report an opt-in rate, because someone who said no would look identical to someone never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now has the four counts asked for by name, plus four more. What mattered was defining them, because “participants” could mean several different things. Each one on screen has a stated definition. If asked why started and completed differ: someone can open the assessment and not finish — that gap is the completion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category chart now has a table under it — mean, median, lowest, highest. Both read the same set of sessions, so they cannot drift apart and show different numbers for the same thing. Three demographic charts, and the demographic columns are in the CSV export so the data can be analysed properly outside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site. Acts 3 and 5 of DEMO_SCRIPT.md. Demographics page — submit empty to show validation, then fill it in. Switch to the admin tab: walk the two bands of statistics, the category table, the demographic charts, click a participant row for their profile, then export the CSV and show the new columns. Budget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past this — finding your own defects is a strength, not an admission. The first is the one worth knowing: the database client reports failures by return value rather than by throwing, and we were not checking it. A failed save looked like a success and the participant was told their results were saved when they were not. Fixed — it only claims saved when the database confirms. The second is why those buttons were held during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were checked against a manual calculation, not just eyeballed. The dashboard counts were checked by hand against a known data set. And the dashboard degrades properly — if the demographics table is not there yet, it still loads and tells you why rather than breaking. There is a written test script ready for the tester covering every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plainly, do not apologise for them. The database migration is written and reviewed and gets run before release. Then formal testing. Then deployment after test sign-off — we do not publish straight to the live site. And the results email still points at a development address so we are not sending test data out; that switches before we recruit real participants.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Is it live yet — no, complete and verified locally, goes live after testing signs off. Is the demographic data anonymous — attached to the assessment record, not a name, but not anonymised in the formal research sense. Why require an answer if optional — the step is optional, but on the page we ask for a definite choice and prefer-not-to-say is always available. Can we cross-tabulate scores by age group — not yet, that is first for the next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B08"/>
        </a:solidFill>
      </p:bgPr>
    </p:bg>
    <p:spTree>
      <p:nvGrpSpPr>
        <p:cNvPr id="1" name=""/>
        <p:cNvGrpSpPr/>
        <p:nvPr/>
      </p:nvGrpSpPr>
      <p:grpSpPr>
        <a:xfrm>
          <a:off x="0" y="0"/>
          <a:ext cx="0" cy="0"/>
          <a:chOff x="0" y="0"/>
          <a:chExt cx="0" cy="0"/>
        </a:xfrm>
      </p:grpSpPr>
      <p:sp>
        <p:nvSpPr>
          <p:cNvPr id="3" name="Shape 0"/>
          <p:cNvSpPr/>
          <p:nvPr/>
        </p:nvSpPr>
        <p:spPr>
          <a:xfrm>
            <a:off x="8366760" y="1417320"/>
            <a:ext cx="3200400" cy="3200400"/>
          </a:xfrm>
          <a:prstGeom prst="ellipse">
            <a:avLst/>
          </a:prstGeom>
          <a:solidFill>
            <a:srgbClr val="0D0B08"/>
          </a:solidFill>
          <a:ln w="15875">
            <a:solidFill>
              <a:srgbClr val="332C24"/>
            </a:solidFill>
            <a:prstDash val="solid"/>
          </a:ln>
        </p:spPr>
      </p:sp>
      <p:sp>
        <p:nvSpPr>
          <p:cNvPr id="4" name="Shape 1"/>
          <p:cNvSpPr/>
          <p:nvPr/>
        </p:nvSpPr>
        <p:spPr>
          <a:xfrm>
            <a:off x="8887968" y="1938528"/>
            <a:ext cx="2157984" cy="2157984"/>
          </a:xfrm>
          <a:prstGeom prst="ellipse">
            <a:avLst/>
          </a:prstGeom>
          <a:solidFill>
            <a:srgbClr val="0D0B08"/>
          </a:solidFill>
          <a:ln w="15875">
            <a:solidFill>
              <a:srgbClr val="5A3F1E"/>
            </a:solidFill>
            <a:prstDash val="solid"/>
          </a:ln>
        </p:spPr>
      </p:sp>
      <p:sp>
        <p:nvSpPr>
          <p:cNvPr id="5" name="Shape 2"/>
          <p:cNvSpPr/>
          <p:nvPr/>
        </p:nvSpPr>
        <p:spPr>
          <a:xfrm>
            <a:off x="9546336" y="2596896"/>
            <a:ext cx="841248" cy="841248"/>
          </a:xfrm>
          <a:prstGeom prst="ellipse">
            <a:avLst/>
          </a:prstGeom>
          <a:solidFill>
            <a:srgbClr val="C17F3A"/>
          </a:solidFill>
          <a:ln w="12700">
            <a:solidFill>
              <a:srgbClr val="E8A84E"/>
            </a:solidFill>
            <a:prstDash val="solid"/>
          </a:ln>
        </p:spPr>
      </p:sp>
      <p:sp>
        <p:nvSpPr>
          <p:cNvPr id="6" name="Text 3"/>
          <p:cNvSpPr/>
          <p:nvPr/>
        </p:nvSpPr>
        <p:spPr>
          <a:xfrm>
            <a:off x="640080" y="1600200"/>
            <a:ext cx="7498080" cy="274320"/>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FEDERATION UNIVERSITY AUSTRALIA  ·  ITECH3208 CAPSTONE</a:t>
            </a:r>
            <a:endParaRPr lang="en-US" sz="1050" dirty="0"/>
          </a:p>
        </p:txBody>
      </p:sp>
      <p:sp>
        <p:nvSpPr>
          <p:cNvPr id="7" name="Text 4"/>
          <p:cNvSpPr/>
          <p:nvPr/>
        </p:nvSpPr>
        <p:spPr>
          <a:xfrm>
            <a:off x="640080" y="1965960"/>
            <a:ext cx="7498080" cy="2377440"/>
          </a:xfrm>
          <a:prstGeom prst="rect">
            <a:avLst/>
          </a:prstGeom>
          <a:noFill/>
          <a:ln/>
        </p:spPr>
        <p:txBody>
          <a:bodyPr wrap="square" lIns="0" tIns="0" rIns="0" bIns="0" rtlCol="0" anchor="t"/>
          <a:lstStyle/>
          <a:p>
            <a:pPr indent="0" marL="0">
              <a:lnSpc>
                <a:spcPct val="100000"/>
              </a:lnSpc>
              <a:buNone/>
            </a:pPr>
            <a:r>
              <a:rPr lang="en-US" sz="4000" b="1" dirty="0">
                <a:solidFill>
                  <a:srgbClr val="F5F0E8"/>
                </a:solidFill>
                <a:latin typeface="Arial" pitchFamily="34" charset="0"/>
                <a:ea typeface="Arial" pitchFamily="34" charset="-122"/>
                <a:cs typeface="Arial" pitchFamily="34" charset="-120"/>
              </a:rPr>
              <a:t>Pedagogy Evaluation
Platform
</a:t>
            </a:r>
            <a:pPr indent="0" marL="0">
              <a:lnSpc>
                <a:spcPct val="100000"/>
              </a:lnSpc>
              <a:buNone/>
            </a:pPr>
            <a:r>
              <a:rPr lang="en-US" sz="4000" b="1" i="1" dirty="0">
                <a:solidFill>
                  <a:srgbClr val="C17F3A"/>
                </a:solidFill>
                <a:latin typeface="Arial" pitchFamily="34" charset="0"/>
                <a:ea typeface="Arial" pitchFamily="34" charset="-122"/>
                <a:cs typeface="Arial" pitchFamily="34" charset="-120"/>
              </a:rPr>
              <a:t>Sprint 3.</a:t>
            </a:r>
            <a:endParaRPr lang="en-US" sz="4000" dirty="0"/>
          </a:p>
        </p:txBody>
      </p:sp>
      <p:sp>
        <p:nvSpPr>
          <p:cNvPr id="8" name="Text 5"/>
          <p:cNvSpPr/>
          <p:nvPr/>
        </p:nvSpPr>
        <p:spPr>
          <a:xfrm>
            <a:off x="640080" y="4526280"/>
            <a:ext cx="7498080" cy="640080"/>
          </a:xfrm>
          <a:prstGeom prst="rect">
            <a:avLst/>
          </a:prstGeom>
          <a:noFill/>
          <a:ln/>
        </p:spPr>
        <p:txBody>
          <a:bodyPr wrap="square" lIns="0" tIns="0" rIns="0" bIns="0" rtlCol="0" anchor="ctr"/>
          <a:lstStyle/>
          <a:p>
            <a:pPr indent="0" marL="0">
              <a:buNone/>
            </a:pPr>
            <a:r>
              <a:rPr lang="en-US" sz="1400" dirty="0">
                <a:solidFill>
                  <a:srgbClr val="958C80"/>
                </a:solidFill>
                <a:latin typeface="Calibri" pitchFamily="34" charset="0"/>
                <a:ea typeface="Calibri" pitchFamily="34" charset="-122"/>
                <a:cs typeface="Calibri" pitchFamily="34" charset="-120"/>
              </a:rPr>
              <a:t>Optional demographic collection  ·  Administrator dashboard  ·  Survey completion validation</a:t>
            </a:r>
            <a:endParaRPr lang="en-US" sz="1400" dirty="0"/>
          </a:p>
        </p:txBody>
      </p:sp>
      <p:sp>
        <p:nvSpPr>
          <p:cNvPr id="9" name="Shape 6"/>
          <p:cNvSpPr/>
          <p:nvPr/>
        </p:nvSpPr>
        <p:spPr>
          <a:xfrm>
            <a:off x="640080" y="6245352"/>
            <a:ext cx="10911535" cy="0"/>
          </a:xfrm>
          <a:prstGeom prst="line">
            <a:avLst/>
          </a:prstGeom>
          <a:noFill/>
          <a:ln w="12700">
            <a:solidFill>
              <a:srgbClr val="332C24"/>
            </a:solidFill>
            <a:prstDash val="solid"/>
          </a:ln>
        </p:spPr>
      </p:sp>
      <p:sp>
        <p:nvSpPr>
          <p:cNvPr id="10" name="Text 7"/>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SPRINT 3 REVIEW</a:t>
            </a:r>
            <a:endParaRPr lang="en-US" sz="900" dirty="0"/>
          </a:p>
        </p:txBody>
      </p:sp>
      <p:sp>
        <p:nvSpPr>
          <p:cNvPr id="11" name="Text 8"/>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WHAT WE WERE ASKED TO BUILD</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Four </a:t>
            </a:r>
            <a:pPr indent="0" marL="0">
              <a:buNone/>
            </a:pPr>
            <a:r>
              <a:rPr lang="en-US" sz="3400" b="1" i="1" dirty="0">
                <a:solidFill>
                  <a:srgbClr val="C17F3A"/>
                </a:solidFill>
                <a:latin typeface="Arial" pitchFamily="34" charset="0"/>
                <a:ea typeface="Arial" pitchFamily="34" charset="-122"/>
                <a:cs typeface="Arial" pitchFamily="34" charset="-120"/>
              </a:rPr>
              <a:t>requirements.</a:t>
            </a:r>
            <a:endParaRPr lang="en-US" sz="3400" dirty="0"/>
          </a:p>
        </p:txBody>
      </p:sp>
      <p:sp>
        <p:nvSpPr>
          <p:cNvPr id="5" name="Shape 2"/>
          <p:cNvSpPr/>
          <p:nvPr/>
        </p:nvSpPr>
        <p:spPr>
          <a:xfrm>
            <a:off x="640080" y="2075688"/>
            <a:ext cx="475488" cy="475488"/>
          </a:xfrm>
          <a:prstGeom prst="ellipse">
            <a:avLst/>
          </a:prstGeom>
          <a:solidFill>
            <a:srgbClr val="0D0B08"/>
          </a:solidFill>
          <a:ln w="15875">
            <a:solidFill>
              <a:srgbClr val="BCD0EF"/>
            </a:solidFill>
            <a:prstDash val="solid"/>
          </a:ln>
        </p:spPr>
      </p:sp>
      <p:sp>
        <p:nvSpPr>
          <p:cNvPr id="6" name="Text 3"/>
          <p:cNvSpPr/>
          <p:nvPr/>
        </p:nvSpPr>
        <p:spPr>
          <a:xfrm>
            <a:off x="640080" y="2075688"/>
            <a:ext cx="475488" cy="475488"/>
          </a:xfrm>
          <a:prstGeom prst="rect">
            <a:avLst/>
          </a:prstGeom>
          <a:noFill/>
          <a:ln/>
        </p:spPr>
        <p:txBody>
          <a:bodyPr wrap="square" lIns="0" tIns="0" rIns="0" bIns="0" rtlCol="0" anchor="ctr"/>
          <a:lstStyle/>
          <a:p>
            <a:pPr algn="ctr" indent="0" marL="0">
              <a:buNone/>
            </a:pPr>
            <a:r>
              <a:rPr lang="en-US" sz="1200" b="1" dirty="0">
                <a:solidFill>
                  <a:srgbClr val="BCD0EF"/>
                </a:solidFill>
                <a:latin typeface="Arial" pitchFamily="34" charset="0"/>
                <a:ea typeface="Arial" pitchFamily="34" charset="-122"/>
                <a:cs typeface="Arial" pitchFamily="34" charset="-120"/>
              </a:rPr>
              <a:t>R1</a:t>
            </a:r>
            <a:endParaRPr lang="en-US" sz="1200" dirty="0"/>
          </a:p>
        </p:txBody>
      </p:sp>
      <p:sp>
        <p:nvSpPr>
          <p:cNvPr id="7" name="Text 4"/>
          <p:cNvSpPr/>
          <p:nvPr/>
        </p:nvSpPr>
        <p:spPr>
          <a:xfrm>
            <a:off x="1353312" y="1965960"/>
            <a:ext cx="21031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Demographics</a:t>
            </a:r>
            <a:endParaRPr lang="en-US" sz="1400" dirty="0"/>
          </a:p>
        </p:txBody>
      </p:sp>
      <p:sp>
        <p:nvSpPr>
          <p:cNvPr id="8" name="Text 5"/>
          <p:cNvSpPr/>
          <p:nvPr/>
        </p:nvSpPr>
        <p:spPr>
          <a:xfrm>
            <a:off x="1353312" y="2295144"/>
            <a:ext cx="10198303" cy="658368"/>
          </a:xfrm>
          <a:prstGeom prst="rect">
            <a:avLst/>
          </a:prstGeom>
          <a:noFill/>
          <a:ln/>
        </p:spPr>
        <p:txBody>
          <a:bodyPr wrap="square" lIns="0" tIns="0" rIns="0" bIns="0" rtlCol="0" anchor="t"/>
          <a:lstStyle/>
          <a:p>
            <a:pPr indent="0" marL="0">
              <a:lnSpc>
                <a:spcPct val="110000"/>
              </a:lnSpc>
              <a:buNone/>
            </a:pPr>
            <a:r>
              <a:rPr lang="en-US" sz="1300" dirty="0">
                <a:solidFill>
                  <a:srgbClr val="958C80"/>
                </a:solidFill>
                <a:latin typeface="Calibri" pitchFamily="34" charset="0"/>
                <a:ea typeface="Calibri" pitchFamily="34" charset="-122"/>
                <a:cs typeface="Calibri" pitchFamily="34" charset="-120"/>
              </a:rPr>
              <a:t>Ask after the survey whether the participant will provide demographic information. If yes, collect age group, gender and academic level A–E, linked to the same response.</a:t>
            </a:r>
            <a:endParaRPr lang="en-US" sz="1300" dirty="0"/>
          </a:p>
        </p:txBody>
      </p:sp>
      <p:sp>
        <p:nvSpPr>
          <p:cNvPr id="9" name="Shape 6"/>
          <p:cNvSpPr/>
          <p:nvPr/>
        </p:nvSpPr>
        <p:spPr>
          <a:xfrm>
            <a:off x="640080" y="3145536"/>
            <a:ext cx="475488" cy="475488"/>
          </a:xfrm>
          <a:prstGeom prst="ellipse">
            <a:avLst/>
          </a:prstGeom>
          <a:solidFill>
            <a:srgbClr val="0D0B08"/>
          </a:solidFill>
          <a:ln w="15875">
            <a:solidFill>
              <a:srgbClr val="DCBDED"/>
            </a:solidFill>
            <a:prstDash val="solid"/>
          </a:ln>
        </p:spPr>
      </p:sp>
      <p:sp>
        <p:nvSpPr>
          <p:cNvPr id="10" name="Text 7"/>
          <p:cNvSpPr/>
          <p:nvPr/>
        </p:nvSpPr>
        <p:spPr>
          <a:xfrm>
            <a:off x="640080" y="3145536"/>
            <a:ext cx="475488" cy="475488"/>
          </a:xfrm>
          <a:prstGeom prst="rect">
            <a:avLst/>
          </a:prstGeom>
          <a:noFill/>
          <a:ln/>
        </p:spPr>
        <p:txBody>
          <a:bodyPr wrap="square" lIns="0" tIns="0" rIns="0" bIns="0" rtlCol="0" anchor="ctr"/>
          <a:lstStyle/>
          <a:p>
            <a:pPr algn="ctr" indent="0" marL="0">
              <a:buNone/>
            </a:pPr>
            <a:r>
              <a:rPr lang="en-US" sz="1200" b="1" dirty="0">
                <a:solidFill>
                  <a:srgbClr val="DCBDED"/>
                </a:solidFill>
                <a:latin typeface="Arial" pitchFamily="34" charset="0"/>
                <a:ea typeface="Arial" pitchFamily="34" charset="-122"/>
                <a:cs typeface="Arial" pitchFamily="34" charset="-120"/>
              </a:rPr>
              <a:t>R2</a:t>
            </a:r>
            <a:endParaRPr lang="en-US" sz="1200" dirty="0"/>
          </a:p>
        </p:txBody>
      </p:sp>
      <p:sp>
        <p:nvSpPr>
          <p:cNvPr id="11" name="Text 8"/>
          <p:cNvSpPr/>
          <p:nvPr/>
        </p:nvSpPr>
        <p:spPr>
          <a:xfrm>
            <a:off x="1353312" y="3035808"/>
            <a:ext cx="21031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Dashboard</a:t>
            </a:r>
            <a:endParaRPr lang="en-US" sz="1400" dirty="0"/>
          </a:p>
        </p:txBody>
      </p:sp>
      <p:sp>
        <p:nvSpPr>
          <p:cNvPr id="12" name="Text 9"/>
          <p:cNvSpPr/>
          <p:nvPr/>
        </p:nvSpPr>
        <p:spPr>
          <a:xfrm>
            <a:off x="1353312" y="3364992"/>
            <a:ext cx="10198303" cy="658368"/>
          </a:xfrm>
          <a:prstGeom prst="rect">
            <a:avLst/>
          </a:prstGeom>
          <a:noFill/>
          <a:ln/>
        </p:spPr>
        <p:txBody>
          <a:bodyPr wrap="square" lIns="0" tIns="0" rIns="0" bIns="0" rtlCol="0" anchor="t"/>
          <a:lstStyle/>
          <a:p>
            <a:pPr indent="0" marL="0">
              <a:lnSpc>
                <a:spcPct val="110000"/>
              </a:lnSpc>
              <a:buNone/>
            </a:pPr>
            <a:r>
              <a:rPr lang="en-US" sz="1300" dirty="0">
                <a:solidFill>
                  <a:srgbClr val="958C80"/>
                </a:solidFill>
                <a:latin typeface="Calibri" pitchFamily="34" charset="0"/>
                <a:ea typeface="Calibri" pitchFamily="34" charset="-122"/>
                <a:cs typeface="Calibri" pitchFamily="34" charset="-120"/>
              </a:rPr>
              <a:t>Focus the sprint on the admin dashboard: participants, started, completed, accounts created, a TP / PD / TA / TPP summary, and demographic charts.</a:t>
            </a:r>
            <a:endParaRPr lang="en-US" sz="1300" dirty="0"/>
          </a:p>
        </p:txBody>
      </p:sp>
      <p:sp>
        <p:nvSpPr>
          <p:cNvPr id="13" name="Shape 10"/>
          <p:cNvSpPr/>
          <p:nvPr/>
        </p:nvSpPr>
        <p:spPr>
          <a:xfrm>
            <a:off x="640080" y="4215384"/>
            <a:ext cx="475488" cy="475488"/>
          </a:xfrm>
          <a:prstGeom prst="ellipse">
            <a:avLst/>
          </a:prstGeom>
          <a:solidFill>
            <a:srgbClr val="0D0B08"/>
          </a:solidFill>
          <a:ln w="15875">
            <a:solidFill>
              <a:srgbClr val="B6DCC4"/>
            </a:solidFill>
            <a:prstDash val="solid"/>
          </a:ln>
        </p:spPr>
      </p:sp>
      <p:sp>
        <p:nvSpPr>
          <p:cNvPr id="14" name="Text 11"/>
          <p:cNvSpPr/>
          <p:nvPr/>
        </p:nvSpPr>
        <p:spPr>
          <a:xfrm>
            <a:off x="640080" y="4215384"/>
            <a:ext cx="475488" cy="475488"/>
          </a:xfrm>
          <a:prstGeom prst="rect">
            <a:avLst/>
          </a:prstGeom>
          <a:noFill/>
          <a:ln/>
        </p:spPr>
        <p:txBody>
          <a:bodyPr wrap="square" lIns="0" tIns="0" rIns="0" bIns="0" rtlCol="0" anchor="ctr"/>
          <a:lstStyle/>
          <a:p>
            <a:pPr algn="ctr" indent="0" marL="0">
              <a:buNone/>
            </a:pPr>
            <a:r>
              <a:rPr lang="en-US" sz="1200" b="1" dirty="0">
                <a:solidFill>
                  <a:srgbClr val="B6DCC4"/>
                </a:solidFill>
                <a:latin typeface="Arial" pitchFamily="34" charset="0"/>
                <a:ea typeface="Arial" pitchFamily="34" charset="-122"/>
                <a:cs typeface="Arial" pitchFamily="34" charset="-120"/>
              </a:rPr>
              <a:t>R3</a:t>
            </a:r>
            <a:endParaRPr lang="en-US" sz="1200" dirty="0"/>
          </a:p>
        </p:txBody>
      </p:sp>
      <p:sp>
        <p:nvSpPr>
          <p:cNvPr id="15" name="Text 12"/>
          <p:cNvSpPr/>
          <p:nvPr/>
        </p:nvSpPr>
        <p:spPr>
          <a:xfrm>
            <a:off x="1353312" y="4105656"/>
            <a:ext cx="21031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Validation</a:t>
            </a:r>
            <a:endParaRPr lang="en-US" sz="1400" dirty="0"/>
          </a:p>
        </p:txBody>
      </p:sp>
      <p:sp>
        <p:nvSpPr>
          <p:cNvPr id="16" name="Text 13"/>
          <p:cNvSpPr/>
          <p:nvPr/>
        </p:nvSpPr>
        <p:spPr>
          <a:xfrm>
            <a:off x="1353312" y="4434840"/>
            <a:ext cx="10198303" cy="658368"/>
          </a:xfrm>
          <a:prstGeom prst="rect">
            <a:avLst/>
          </a:prstGeom>
          <a:noFill/>
          <a:ln/>
        </p:spPr>
        <p:txBody>
          <a:bodyPr wrap="square" lIns="0" tIns="0" rIns="0" bIns="0" rtlCol="0" anchor="t"/>
          <a:lstStyle/>
          <a:p>
            <a:pPr indent="0" marL="0">
              <a:lnSpc>
                <a:spcPct val="110000"/>
              </a:lnSpc>
              <a:buNone/>
            </a:pPr>
            <a:r>
              <a:rPr lang="en-US" sz="1300" dirty="0">
                <a:solidFill>
                  <a:srgbClr val="958C80"/>
                </a:solidFill>
                <a:latin typeface="Calibri" pitchFamily="34" charset="0"/>
                <a:ea typeface="Calibri" pitchFamily="34" charset="-122"/>
                <a:cs typeface="Calibri" pitchFamily="34" charset="-120"/>
              </a:rPr>
              <a:t>Participants cannot submit unless every question is answered, an error is shown when incomplete, and results save only on completion.</a:t>
            </a:r>
            <a:endParaRPr lang="en-US" sz="1300" dirty="0"/>
          </a:p>
        </p:txBody>
      </p:sp>
      <p:sp>
        <p:nvSpPr>
          <p:cNvPr id="17" name="Shape 14"/>
          <p:cNvSpPr/>
          <p:nvPr/>
        </p:nvSpPr>
        <p:spPr>
          <a:xfrm>
            <a:off x="640080" y="5285232"/>
            <a:ext cx="475488" cy="475488"/>
          </a:xfrm>
          <a:prstGeom prst="ellipse">
            <a:avLst/>
          </a:prstGeom>
          <a:solidFill>
            <a:srgbClr val="0D0B08"/>
          </a:solidFill>
          <a:ln w="15875">
            <a:solidFill>
              <a:srgbClr val="E8A84E"/>
            </a:solidFill>
            <a:prstDash val="solid"/>
          </a:ln>
        </p:spPr>
      </p:sp>
      <p:sp>
        <p:nvSpPr>
          <p:cNvPr id="18" name="Text 15"/>
          <p:cNvSpPr/>
          <p:nvPr/>
        </p:nvSpPr>
        <p:spPr>
          <a:xfrm>
            <a:off x="640080" y="5285232"/>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R4</a:t>
            </a:r>
            <a:endParaRPr lang="en-US" sz="1200" dirty="0"/>
          </a:p>
        </p:txBody>
      </p:sp>
      <p:sp>
        <p:nvSpPr>
          <p:cNvPr id="19" name="Text 16"/>
          <p:cNvSpPr/>
          <p:nvPr/>
        </p:nvSpPr>
        <p:spPr>
          <a:xfrm>
            <a:off x="1353312" y="5175504"/>
            <a:ext cx="21031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Testing</a:t>
            </a:r>
            <a:endParaRPr lang="en-US" sz="1400" dirty="0"/>
          </a:p>
        </p:txBody>
      </p:sp>
      <p:sp>
        <p:nvSpPr>
          <p:cNvPr id="20" name="Text 17"/>
          <p:cNvSpPr/>
          <p:nvPr/>
        </p:nvSpPr>
        <p:spPr>
          <a:xfrm>
            <a:off x="1353312" y="5504688"/>
            <a:ext cx="10198303" cy="658368"/>
          </a:xfrm>
          <a:prstGeom prst="rect">
            <a:avLst/>
          </a:prstGeom>
          <a:noFill/>
          <a:ln/>
        </p:spPr>
        <p:txBody>
          <a:bodyPr wrap="square" lIns="0" tIns="0" rIns="0" bIns="0" rtlCol="0" anchor="t"/>
          <a:lstStyle/>
          <a:p>
            <a:pPr indent="0" marL="0">
              <a:lnSpc>
                <a:spcPct val="110000"/>
              </a:lnSpc>
              <a:buNone/>
            </a:pPr>
            <a:r>
              <a:rPr lang="en-US" sz="1300" dirty="0">
                <a:solidFill>
                  <a:srgbClr val="958C80"/>
                </a:solidFill>
                <a:latin typeface="Calibri" pitchFamily="34" charset="0"/>
                <a:ea typeface="Calibri" pitchFamily="34" charset="-122"/>
                <a:cs typeface="Calibri" pitchFamily="34" charset="-120"/>
              </a:rPr>
              <a:t>Verify all of the above by testing.</a:t>
            </a:r>
            <a:endParaRPr lang="en-US" sz="1300" dirty="0"/>
          </a:p>
        </p:txBody>
      </p:sp>
      <p:sp>
        <p:nvSpPr>
          <p:cNvPr id="21" name="Shape 18"/>
          <p:cNvSpPr/>
          <p:nvPr/>
        </p:nvSpPr>
        <p:spPr>
          <a:xfrm>
            <a:off x="640080" y="6245352"/>
            <a:ext cx="10911535" cy="0"/>
          </a:xfrm>
          <a:prstGeom prst="line">
            <a:avLst/>
          </a:prstGeom>
          <a:noFill/>
          <a:ln w="12700">
            <a:solidFill>
              <a:srgbClr val="332C24"/>
            </a:solidFill>
            <a:prstDash val="solid"/>
          </a:ln>
        </p:spPr>
      </p:sp>
      <p:sp>
        <p:nvSpPr>
          <p:cNvPr id="22" name="Text 19"/>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REQUIREMENTS</a:t>
            </a:r>
            <a:endParaRPr lang="en-US" sz="900" dirty="0"/>
          </a:p>
        </p:txBody>
      </p:sp>
      <p:sp>
        <p:nvSpPr>
          <p:cNvPr id="23" name="Text 20"/>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WHERE WE LANDED</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All four </a:t>
            </a:r>
            <a:pPr indent="0" marL="0">
              <a:buNone/>
            </a:pPr>
            <a:r>
              <a:rPr lang="en-US" sz="3400" b="1" i="1" dirty="0">
                <a:solidFill>
                  <a:srgbClr val="C17F3A"/>
                </a:solidFill>
                <a:latin typeface="Arial" pitchFamily="34" charset="0"/>
                <a:ea typeface="Arial" pitchFamily="34" charset="-122"/>
                <a:cs typeface="Arial" pitchFamily="34" charset="-120"/>
              </a:rPr>
              <a:t>delivered.</a:t>
            </a:r>
            <a:endParaRPr lang="en-US" sz="3400" dirty="0"/>
          </a:p>
        </p:txBody>
      </p:sp>
      <p:sp>
        <p:nvSpPr>
          <p:cNvPr id="5" name="Shape 2"/>
          <p:cNvSpPr/>
          <p:nvPr/>
        </p:nvSpPr>
        <p:spPr>
          <a:xfrm>
            <a:off x="640080" y="2103120"/>
            <a:ext cx="2587752" cy="2834640"/>
          </a:xfrm>
          <a:prstGeom prst="roundRect">
            <a:avLst>
              <a:gd name="adj" fmla="val 3180"/>
            </a:avLst>
          </a:prstGeom>
          <a:solidFill>
            <a:srgbClr val="19160F"/>
          </a:solidFill>
          <a:ln w="12700">
            <a:solidFill>
              <a:srgbClr val="332C24"/>
            </a:solidFill>
            <a:prstDash val="solid"/>
          </a:ln>
        </p:spPr>
      </p:sp>
      <p:sp>
        <p:nvSpPr>
          <p:cNvPr id="6" name="Shape 3"/>
          <p:cNvSpPr/>
          <p:nvPr/>
        </p:nvSpPr>
        <p:spPr>
          <a:xfrm>
            <a:off x="932688" y="2414016"/>
            <a:ext cx="475488" cy="475488"/>
          </a:xfrm>
          <a:prstGeom prst="ellipse">
            <a:avLst/>
          </a:prstGeom>
          <a:solidFill>
            <a:srgbClr val="0D0B08"/>
          </a:solidFill>
          <a:ln w="15875">
            <a:solidFill>
              <a:srgbClr val="BCD0EF"/>
            </a:solidFill>
            <a:prstDash val="solid"/>
          </a:ln>
        </p:spPr>
      </p:sp>
      <p:sp>
        <p:nvSpPr>
          <p:cNvPr id="7" name="Text 4"/>
          <p:cNvSpPr/>
          <p:nvPr/>
        </p:nvSpPr>
        <p:spPr>
          <a:xfrm>
            <a:off x="932688" y="2414016"/>
            <a:ext cx="475488" cy="475488"/>
          </a:xfrm>
          <a:prstGeom prst="rect">
            <a:avLst/>
          </a:prstGeom>
          <a:noFill/>
          <a:ln/>
        </p:spPr>
        <p:txBody>
          <a:bodyPr wrap="square" lIns="0" tIns="0" rIns="0" bIns="0" rtlCol="0" anchor="ctr"/>
          <a:lstStyle/>
          <a:p>
            <a:pPr algn="ctr" indent="0" marL="0">
              <a:buNone/>
            </a:pPr>
            <a:r>
              <a:rPr lang="en-US" sz="1200" b="1" dirty="0">
                <a:solidFill>
                  <a:srgbClr val="BCD0EF"/>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932688" y="3090672"/>
            <a:ext cx="2002536" cy="274320"/>
          </a:xfrm>
          <a:prstGeom prst="rect">
            <a:avLst/>
          </a:prstGeom>
          <a:noFill/>
          <a:ln/>
        </p:spPr>
        <p:txBody>
          <a:bodyPr wrap="square" lIns="0" tIns="0" rIns="0" bIns="0" rtlCol="0" anchor="ctr"/>
          <a:lstStyle/>
          <a:p>
            <a:pPr indent="0" marL="0">
              <a:buNone/>
            </a:pPr>
            <a:r>
              <a:rPr lang="en-US" sz="950" b="1" spc="200" kern="0" dirty="0">
                <a:solidFill>
                  <a:srgbClr val="BCD0EF"/>
                </a:solidFill>
                <a:latin typeface="Arial" pitchFamily="34" charset="0"/>
                <a:ea typeface="Arial" pitchFamily="34" charset="-122"/>
                <a:cs typeface="Arial" pitchFamily="34" charset="-120"/>
              </a:rPr>
              <a:t>R1 · DEMOGRAPHICS</a:t>
            </a:r>
            <a:endParaRPr lang="en-US" sz="950" dirty="0"/>
          </a:p>
        </p:txBody>
      </p:sp>
      <p:sp>
        <p:nvSpPr>
          <p:cNvPr id="9" name="Text 6"/>
          <p:cNvSpPr/>
          <p:nvPr/>
        </p:nvSpPr>
        <p:spPr>
          <a:xfrm>
            <a:off x="932688" y="3438144"/>
            <a:ext cx="2002536" cy="1188720"/>
          </a:xfrm>
          <a:prstGeom prst="rect">
            <a:avLst/>
          </a:prstGeom>
          <a:noFill/>
          <a:ln/>
        </p:spPr>
        <p:txBody>
          <a:bodyPr wrap="square" lIns="0" tIns="0" rIns="0" bIns="0" rtlCol="0" anchor="t"/>
          <a:lstStyle/>
          <a:p>
            <a:pPr indent="0" marL="0">
              <a:lnSpc>
                <a:spcPct val="115000"/>
              </a:lnSpc>
              <a:buNone/>
            </a:pPr>
            <a:r>
              <a:rPr lang="en-US" sz="1350" dirty="0">
                <a:solidFill>
                  <a:srgbClr val="958C80"/>
                </a:solidFill>
                <a:latin typeface="Calibri" pitchFamily="34" charset="0"/>
                <a:ea typeface="Calibri" pitchFamily="34" charset="-122"/>
                <a:cs typeface="Calibri" pitchFamily="34" charset="-120"/>
              </a:rPr>
              <a:t>Consent step, dedicated page, linked to the response</a:t>
            </a:r>
            <a:endParaRPr lang="en-US" sz="1350" dirty="0"/>
          </a:p>
        </p:txBody>
      </p:sp>
      <p:sp>
        <p:nvSpPr>
          <p:cNvPr id="10" name="Shape 7"/>
          <p:cNvSpPr/>
          <p:nvPr/>
        </p:nvSpPr>
        <p:spPr>
          <a:xfrm>
            <a:off x="3410712" y="2103120"/>
            <a:ext cx="2587752" cy="2834640"/>
          </a:xfrm>
          <a:prstGeom prst="roundRect">
            <a:avLst>
              <a:gd name="adj" fmla="val 3180"/>
            </a:avLst>
          </a:prstGeom>
          <a:solidFill>
            <a:srgbClr val="19160F"/>
          </a:solidFill>
          <a:ln w="12700">
            <a:solidFill>
              <a:srgbClr val="332C24"/>
            </a:solidFill>
            <a:prstDash val="solid"/>
          </a:ln>
        </p:spPr>
      </p:sp>
      <p:sp>
        <p:nvSpPr>
          <p:cNvPr id="11" name="Shape 8"/>
          <p:cNvSpPr/>
          <p:nvPr/>
        </p:nvSpPr>
        <p:spPr>
          <a:xfrm>
            <a:off x="3703320" y="2414016"/>
            <a:ext cx="475488" cy="475488"/>
          </a:xfrm>
          <a:prstGeom prst="ellipse">
            <a:avLst/>
          </a:prstGeom>
          <a:solidFill>
            <a:srgbClr val="0D0B08"/>
          </a:solidFill>
          <a:ln w="15875">
            <a:solidFill>
              <a:srgbClr val="DCBDED"/>
            </a:solidFill>
            <a:prstDash val="solid"/>
          </a:ln>
        </p:spPr>
      </p:sp>
      <p:sp>
        <p:nvSpPr>
          <p:cNvPr id="12" name="Text 9"/>
          <p:cNvSpPr/>
          <p:nvPr/>
        </p:nvSpPr>
        <p:spPr>
          <a:xfrm>
            <a:off x="3703320" y="2414016"/>
            <a:ext cx="475488" cy="475488"/>
          </a:xfrm>
          <a:prstGeom prst="rect">
            <a:avLst/>
          </a:prstGeom>
          <a:noFill/>
          <a:ln/>
        </p:spPr>
        <p:txBody>
          <a:bodyPr wrap="square" lIns="0" tIns="0" rIns="0" bIns="0" rtlCol="0" anchor="ctr"/>
          <a:lstStyle/>
          <a:p>
            <a:pPr algn="ctr" indent="0" marL="0">
              <a:buNone/>
            </a:pPr>
            <a:r>
              <a:rPr lang="en-US" sz="1200" b="1" dirty="0">
                <a:solidFill>
                  <a:srgbClr val="DCBDED"/>
                </a:solidFill>
                <a:latin typeface="Arial" pitchFamily="34" charset="0"/>
                <a:ea typeface="Arial" pitchFamily="34" charset="-122"/>
                <a:cs typeface="Arial" pitchFamily="34" charset="-120"/>
              </a:rPr>
              <a:t>✓</a:t>
            </a:r>
            <a:endParaRPr lang="en-US" sz="1200" dirty="0"/>
          </a:p>
        </p:txBody>
      </p:sp>
      <p:sp>
        <p:nvSpPr>
          <p:cNvPr id="13" name="Text 10"/>
          <p:cNvSpPr/>
          <p:nvPr/>
        </p:nvSpPr>
        <p:spPr>
          <a:xfrm>
            <a:off x="3703320" y="3090672"/>
            <a:ext cx="2002536" cy="274320"/>
          </a:xfrm>
          <a:prstGeom prst="rect">
            <a:avLst/>
          </a:prstGeom>
          <a:noFill/>
          <a:ln/>
        </p:spPr>
        <p:txBody>
          <a:bodyPr wrap="square" lIns="0" tIns="0" rIns="0" bIns="0" rtlCol="0" anchor="ctr"/>
          <a:lstStyle/>
          <a:p>
            <a:pPr indent="0" marL="0">
              <a:buNone/>
            </a:pPr>
            <a:r>
              <a:rPr lang="en-US" sz="950" b="1" spc="200" kern="0" dirty="0">
                <a:solidFill>
                  <a:srgbClr val="DCBDED"/>
                </a:solidFill>
                <a:latin typeface="Arial" pitchFamily="34" charset="0"/>
                <a:ea typeface="Arial" pitchFamily="34" charset="-122"/>
                <a:cs typeface="Arial" pitchFamily="34" charset="-120"/>
              </a:rPr>
              <a:t>R2 · DASHBOARD</a:t>
            </a:r>
            <a:endParaRPr lang="en-US" sz="950" dirty="0"/>
          </a:p>
        </p:txBody>
      </p:sp>
      <p:sp>
        <p:nvSpPr>
          <p:cNvPr id="14" name="Text 11"/>
          <p:cNvSpPr/>
          <p:nvPr/>
        </p:nvSpPr>
        <p:spPr>
          <a:xfrm>
            <a:off x="3703320" y="3438144"/>
            <a:ext cx="2002536" cy="1188720"/>
          </a:xfrm>
          <a:prstGeom prst="rect">
            <a:avLst/>
          </a:prstGeom>
          <a:noFill/>
          <a:ln/>
        </p:spPr>
        <p:txBody>
          <a:bodyPr wrap="square" lIns="0" tIns="0" rIns="0" bIns="0" rtlCol="0" anchor="t"/>
          <a:lstStyle/>
          <a:p>
            <a:pPr indent="0" marL="0">
              <a:lnSpc>
                <a:spcPct val="115000"/>
              </a:lnSpc>
              <a:buNone/>
            </a:pPr>
            <a:r>
              <a:rPr lang="en-US" sz="1350" dirty="0">
                <a:solidFill>
                  <a:srgbClr val="958C80"/>
                </a:solidFill>
                <a:latin typeface="Calibri" pitchFamily="34" charset="0"/>
                <a:ea typeface="Calibri" pitchFamily="34" charset="-122"/>
                <a:cs typeface="Calibri" pitchFamily="34" charset="-120"/>
              </a:rPr>
              <a:t>Eight statistics, category summary, three demographic charts</a:t>
            </a:r>
            <a:endParaRPr lang="en-US" sz="1350" dirty="0"/>
          </a:p>
        </p:txBody>
      </p:sp>
      <p:sp>
        <p:nvSpPr>
          <p:cNvPr id="15" name="Shape 12"/>
          <p:cNvSpPr/>
          <p:nvPr/>
        </p:nvSpPr>
        <p:spPr>
          <a:xfrm>
            <a:off x="6181344" y="2103120"/>
            <a:ext cx="2587752" cy="2834640"/>
          </a:xfrm>
          <a:prstGeom prst="roundRect">
            <a:avLst>
              <a:gd name="adj" fmla="val 3180"/>
            </a:avLst>
          </a:prstGeom>
          <a:solidFill>
            <a:srgbClr val="19160F"/>
          </a:solidFill>
          <a:ln w="12700">
            <a:solidFill>
              <a:srgbClr val="332C24"/>
            </a:solidFill>
            <a:prstDash val="solid"/>
          </a:ln>
        </p:spPr>
      </p:sp>
      <p:sp>
        <p:nvSpPr>
          <p:cNvPr id="16" name="Shape 13"/>
          <p:cNvSpPr/>
          <p:nvPr/>
        </p:nvSpPr>
        <p:spPr>
          <a:xfrm>
            <a:off x="6473952" y="2414016"/>
            <a:ext cx="475488" cy="475488"/>
          </a:xfrm>
          <a:prstGeom prst="ellipse">
            <a:avLst/>
          </a:prstGeom>
          <a:solidFill>
            <a:srgbClr val="0D0B08"/>
          </a:solidFill>
          <a:ln w="15875">
            <a:solidFill>
              <a:srgbClr val="B6DCC4"/>
            </a:solidFill>
            <a:prstDash val="solid"/>
          </a:ln>
        </p:spPr>
      </p:sp>
      <p:sp>
        <p:nvSpPr>
          <p:cNvPr id="17" name="Text 14"/>
          <p:cNvSpPr/>
          <p:nvPr/>
        </p:nvSpPr>
        <p:spPr>
          <a:xfrm>
            <a:off x="6473952" y="2414016"/>
            <a:ext cx="475488" cy="475488"/>
          </a:xfrm>
          <a:prstGeom prst="rect">
            <a:avLst/>
          </a:prstGeom>
          <a:noFill/>
          <a:ln/>
        </p:spPr>
        <p:txBody>
          <a:bodyPr wrap="square" lIns="0" tIns="0" rIns="0" bIns="0" rtlCol="0" anchor="ctr"/>
          <a:lstStyle/>
          <a:p>
            <a:pPr algn="ctr" indent="0" marL="0">
              <a:buNone/>
            </a:pPr>
            <a:r>
              <a:rPr lang="en-US" sz="1200" b="1" dirty="0">
                <a:solidFill>
                  <a:srgbClr val="B6DCC4"/>
                </a:solidFill>
                <a:latin typeface="Arial" pitchFamily="34" charset="0"/>
                <a:ea typeface="Arial" pitchFamily="34" charset="-122"/>
                <a:cs typeface="Arial" pitchFamily="34" charset="-120"/>
              </a:rPr>
              <a:t>✓</a:t>
            </a:r>
            <a:endParaRPr lang="en-US" sz="1200" dirty="0"/>
          </a:p>
        </p:txBody>
      </p:sp>
      <p:sp>
        <p:nvSpPr>
          <p:cNvPr id="18" name="Text 15"/>
          <p:cNvSpPr/>
          <p:nvPr/>
        </p:nvSpPr>
        <p:spPr>
          <a:xfrm>
            <a:off x="6473952" y="3090672"/>
            <a:ext cx="2002536" cy="274320"/>
          </a:xfrm>
          <a:prstGeom prst="rect">
            <a:avLst/>
          </a:prstGeom>
          <a:noFill/>
          <a:ln/>
        </p:spPr>
        <p:txBody>
          <a:bodyPr wrap="square" lIns="0" tIns="0" rIns="0" bIns="0" rtlCol="0" anchor="ctr"/>
          <a:lstStyle/>
          <a:p>
            <a:pPr indent="0" marL="0">
              <a:buNone/>
            </a:pPr>
            <a:r>
              <a:rPr lang="en-US" sz="950" b="1" spc="200" kern="0" dirty="0">
                <a:solidFill>
                  <a:srgbClr val="B6DCC4"/>
                </a:solidFill>
                <a:latin typeface="Arial" pitchFamily="34" charset="0"/>
                <a:ea typeface="Arial" pitchFamily="34" charset="-122"/>
                <a:cs typeface="Arial" pitchFamily="34" charset="-120"/>
              </a:rPr>
              <a:t>R3 · VALIDATION</a:t>
            </a:r>
            <a:endParaRPr lang="en-US" sz="950" dirty="0"/>
          </a:p>
        </p:txBody>
      </p:sp>
      <p:sp>
        <p:nvSpPr>
          <p:cNvPr id="19" name="Text 16"/>
          <p:cNvSpPr/>
          <p:nvPr/>
        </p:nvSpPr>
        <p:spPr>
          <a:xfrm>
            <a:off x="6473952" y="3438144"/>
            <a:ext cx="2002536" cy="1188720"/>
          </a:xfrm>
          <a:prstGeom prst="rect">
            <a:avLst/>
          </a:prstGeom>
          <a:noFill/>
          <a:ln/>
        </p:spPr>
        <p:txBody>
          <a:bodyPr wrap="square" lIns="0" tIns="0" rIns="0" bIns="0" rtlCol="0" anchor="t"/>
          <a:lstStyle/>
          <a:p>
            <a:pPr indent="0" marL="0">
              <a:lnSpc>
                <a:spcPct val="115000"/>
              </a:lnSpc>
              <a:buNone/>
            </a:pPr>
            <a:r>
              <a:rPr lang="en-US" sz="1350" dirty="0">
                <a:solidFill>
                  <a:srgbClr val="958C80"/>
                </a:solidFill>
                <a:latin typeface="Calibri" pitchFamily="34" charset="0"/>
                <a:ea typeface="Calibri" pitchFamily="34" charset="-122"/>
                <a:cs typeface="Calibri" pitchFamily="34" charset="-120"/>
              </a:rPr>
              <a:t>Two validation points, one completion gate</a:t>
            </a:r>
            <a:endParaRPr lang="en-US" sz="1350" dirty="0"/>
          </a:p>
        </p:txBody>
      </p:sp>
      <p:sp>
        <p:nvSpPr>
          <p:cNvPr id="20" name="Shape 17"/>
          <p:cNvSpPr/>
          <p:nvPr/>
        </p:nvSpPr>
        <p:spPr>
          <a:xfrm>
            <a:off x="8951976" y="2103120"/>
            <a:ext cx="2587752" cy="2834640"/>
          </a:xfrm>
          <a:prstGeom prst="roundRect">
            <a:avLst>
              <a:gd name="adj" fmla="val 3180"/>
            </a:avLst>
          </a:prstGeom>
          <a:solidFill>
            <a:srgbClr val="19160F"/>
          </a:solidFill>
          <a:ln w="12700">
            <a:solidFill>
              <a:srgbClr val="332C24"/>
            </a:solidFill>
            <a:prstDash val="solid"/>
          </a:ln>
        </p:spPr>
      </p:sp>
      <p:sp>
        <p:nvSpPr>
          <p:cNvPr id="21" name="Shape 18"/>
          <p:cNvSpPr/>
          <p:nvPr/>
        </p:nvSpPr>
        <p:spPr>
          <a:xfrm>
            <a:off x="9244584" y="2414016"/>
            <a:ext cx="475488" cy="475488"/>
          </a:xfrm>
          <a:prstGeom prst="ellipse">
            <a:avLst/>
          </a:prstGeom>
          <a:solidFill>
            <a:srgbClr val="0D0B08"/>
          </a:solidFill>
          <a:ln w="15875">
            <a:solidFill>
              <a:srgbClr val="E8A84E"/>
            </a:solidFill>
            <a:prstDash val="solid"/>
          </a:ln>
        </p:spPr>
      </p:sp>
      <p:sp>
        <p:nvSpPr>
          <p:cNvPr id="22" name="Text 19"/>
          <p:cNvSpPr/>
          <p:nvPr/>
        </p:nvSpPr>
        <p:spPr>
          <a:xfrm>
            <a:off x="9244584" y="2414016"/>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a:t>
            </a:r>
            <a:endParaRPr lang="en-US" sz="1200" dirty="0"/>
          </a:p>
        </p:txBody>
      </p:sp>
      <p:sp>
        <p:nvSpPr>
          <p:cNvPr id="23" name="Text 20"/>
          <p:cNvSpPr/>
          <p:nvPr/>
        </p:nvSpPr>
        <p:spPr>
          <a:xfrm>
            <a:off x="9244584" y="3090672"/>
            <a:ext cx="2002536" cy="274320"/>
          </a:xfrm>
          <a:prstGeom prst="rect">
            <a:avLst/>
          </a:prstGeom>
          <a:noFill/>
          <a:ln/>
        </p:spPr>
        <p:txBody>
          <a:bodyPr wrap="square" lIns="0" tIns="0" rIns="0" bIns="0" rtlCol="0" anchor="ctr"/>
          <a:lstStyle/>
          <a:p>
            <a:pPr indent="0" marL="0">
              <a:buNone/>
            </a:pPr>
            <a:r>
              <a:rPr lang="en-US" sz="950" b="1" spc="200" kern="0" dirty="0">
                <a:solidFill>
                  <a:srgbClr val="E8A84E"/>
                </a:solidFill>
                <a:latin typeface="Arial" pitchFamily="34" charset="0"/>
                <a:ea typeface="Arial" pitchFamily="34" charset="-122"/>
                <a:cs typeface="Arial" pitchFamily="34" charset="-120"/>
              </a:rPr>
              <a:t>R4 · TESTING</a:t>
            </a:r>
            <a:endParaRPr lang="en-US" sz="950" dirty="0"/>
          </a:p>
        </p:txBody>
      </p:sp>
      <p:sp>
        <p:nvSpPr>
          <p:cNvPr id="24" name="Text 21"/>
          <p:cNvSpPr/>
          <p:nvPr/>
        </p:nvSpPr>
        <p:spPr>
          <a:xfrm>
            <a:off x="9244584" y="3438144"/>
            <a:ext cx="2002536" cy="1188720"/>
          </a:xfrm>
          <a:prstGeom prst="rect">
            <a:avLst/>
          </a:prstGeom>
          <a:noFill/>
          <a:ln/>
        </p:spPr>
        <p:txBody>
          <a:bodyPr wrap="square" lIns="0" tIns="0" rIns="0" bIns="0" rtlCol="0" anchor="t"/>
          <a:lstStyle/>
          <a:p>
            <a:pPr indent="0" marL="0">
              <a:lnSpc>
                <a:spcPct val="115000"/>
              </a:lnSpc>
              <a:buNone/>
            </a:pPr>
            <a:r>
              <a:rPr lang="en-US" sz="1350" dirty="0">
                <a:solidFill>
                  <a:srgbClr val="958C80"/>
                </a:solidFill>
                <a:latin typeface="Calibri" pitchFamily="34" charset="0"/>
                <a:ea typeface="Calibri" pitchFamily="34" charset="-122"/>
                <a:cs typeface="Calibri" pitchFamily="34" charset="-120"/>
              </a:rPr>
              <a:t>Full test script, plus four defects found and fixed</a:t>
            </a:r>
            <a:endParaRPr lang="en-US" sz="1350" dirty="0"/>
          </a:p>
        </p:txBody>
      </p:sp>
      <p:sp>
        <p:nvSpPr>
          <p:cNvPr id="25" name="Shape 22"/>
          <p:cNvSpPr/>
          <p:nvPr/>
        </p:nvSpPr>
        <p:spPr>
          <a:xfrm>
            <a:off x="640080" y="6245352"/>
            <a:ext cx="10911535" cy="0"/>
          </a:xfrm>
          <a:prstGeom prst="line">
            <a:avLst/>
          </a:prstGeom>
          <a:noFill/>
          <a:ln w="12700">
            <a:solidFill>
              <a:srgbClr val="332C24"/>
            </a:solidFill>
            <a:prstDash val="solid"/>
          </a:ln>
        </p:spPr>
      </p:sp>
      <p:sp>
        <p:nvSpPr>
          <p:cNvPr id="26" name="Text 23"/>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SUMMARY</a:t>
            </a:r>
            <a:endParaRPr lang="en-US" sz="900" dirty="0"/>
          </a:p>
        </p:txBody>
      </p:sp>
      <p:sp>
        <p:nvSpPr>
          <p:cNvPr id="27" name="Text 24"/>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R3 · VALIDATION</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Nothing partial </a:t>
            </a:r>
            <a:pPr indent="0" marL="0">
              <a:buNone/>
            </a:pPr>
            <a:r>
              <a:rPr lang="en-US" sz="3400" b="1" i="1" dirty="0">
                <a:solidFill>
                  <a:srgbClr val="C17F3A"/>
                </a:solidFill>
                <a:latin typeface="Arial" pitchFamily="34" charset="0"/>
                <a:ea typeface="Arial" pitchFamily="34" charset="-122"/>
                <a:cs typeface="Arial" pitchFamily="34" charset="-120"/>
              </a:rPr>
              <a:t>gets saved.</a:t>
            </a:r>
            <a:endParaRPr lang="en-US" sz="3400" dirty="0"/>
          </a:p>
        </p:txBody>
      </p:sp>
      <p:sp>
        <p:nvSpPr>
          <p:cNvPr id="5" name="Shape 2"/>
          <p:cNvSpPr/>
          <p:nvPr/>
        </p:nvSpPr>
        <p:spPr>
          <a:xfrm>
            <a:off x="640080" y="2148840"/>
            <a:ext cx="10911535" cy="1115568"/>
          </a:xfrm>
          <a:prstGeom prst="roundRect">
            <a:avLst>
              <a:gd name="adj" fmla="val 7377"/>
            </a:avLst>
          </a:prstGeom>
          <a:solidFill>
            <a:srgbClr val="19160F"/>
          </a:solidFill>
          <a:ln w="12700">
            <a:solidFill>
              <a:srgbClr val="332C24"/>
            </a:solidFill>
            <a:prstDash val="solid"/>
          </a:ln>
        </p:spPr>
      </p:sp>
      <p:sp>
        <p:nvSpPr>
          <p:cNvPr id="6" name="Shape 3"/>
          <p:cNvSpPr/>
          <p:nvPr/>
        </p:nvSpPr>
        <p:spPr>
          <a:xfrm>
            <a:off x="969264" y="2468880"/>
            <a:ext cx="475488" cy="475488"/>
          </a:xfrm>
          <a:prstGeom prst="ellipse">
            <a:avLst/>
          </a:prstGeom>
          <a:solidFill>
            <a:srgbClr val="0D0B08"/>
          </a:solidFill>
          <a:ln w="15875">
            <a:solidFill>
              <a:srgbClr val="E8A84E"/>
            </a:solidFill>
            <a:prstDash val="solid"/>
          </a:ln>
        </p:spPr>
      </p:sp>
      <p:sp>
        <p:nvSpPr>
          <p:cNvPr id="7" name="Text 4"/>
          <p:cNvSpPr/>
          <p:nvPr/>
        </p:nvSpPr>
        <p:spPr>
          <a:xfrm>
            <a:off x="969264" y="2468880"/>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1</a:t>
            </a:r>
            <a:endParaRPr lang="en-US" sz="1200" dirty="0"/>
          </a:p>
        </p:txBody>
      </p:sp>
      <p:sp>
        <p:nvSpPr>
          <p:cNvPr id="8" name="Text 5"/>
          <p:cNvSpPr/>
          <p:nvPr/>
        </p:nvSpPr>
        <p:spPr>
          <a:xfrm>
            <a:off x="1682496" y="2350008"/>
            <a:ext cx="2743200" cy="329184"/>
          </a:xfrm>
          <a:prstGeom prst="rect">
            <a:avLst/>
          </a:prstGeom>
          <a:noFill/>
          <a:ln/>
        </p:spPr>
        <p:txBody>
          <a:bodyPr wrap="square" lIns="0" tIns="0" rIns="0" bIns="0" rtlCol="0" anchor="ctr"/>
          <a:lstStyle/>
          <a:p>
            <a:pPr indent="0" marL="0">
              <a:buNone/>
            </a:pPr>
            <a:r>
              <a:rPr lang="en-US" sz="1500" b="1" dirty="0">
                <a:solidFill>
                  <a:srgbClr val="F5F0E8"/>
                </a:solidFill>
                <a:latin typeface="Arial" pitchFamily="34" charset="0"/>
                <a:ea typeface="Arial" pitchFamily="34" charset="-122"/>
                <a:cs typeface="Arial" pitchFamily="34" charset="-120"/>
              </a:rPr>
              <a:t>At each question</a:t>
            </a:r>
            <a:endParaRPr lang="en-US" sz="1500" dirty="0"/>
          </a:p>
        </p:txBody>
      </p:sp>
      <p:sp>
        <p:nvSpPr>
          <p:cNvPr id="9" name="Text 6"/>
          <p:cNvSpPr/>
          <p:nvPr/>
        </p:nvSpPr>
        <p:spPr>
          <a:xfrm>
            <a:off x="1682496" y="2697480"/>
            <a:ext cx="9448495" cy="457200"/>
          </a:xfrm>
          <a:prstGeom prst="rect">
            <a:avLst/>
          </a:prstGeom>
          <a:noFill/>
          <a:ln/>
        </p:spPr>
        <p:txBody>
          <a:bodyPr wrap="square" lIns="0" tIns="0" rIns="0" bIns="0" rtlCol="0" anchor="t"/>
          <a:lstStyle/>
          <a:p>
            <a:pPr indent="0" marL="0">
              <a:lnSpc>
                <a:spcPct val="110000"/>
              </a:lnSpc>
              <a:buNone/>
            </a:pPr>
            <a:r>
              <a:rPr lang="en-US" sz="1350" dirty="0">
                <a:solidFill>
                  <a:srgbClr val="958C80"/>
                </a:solidFill>
                <a:latin typeface="Calibri" pitchFamily="34" charset="0"/>
                <a:ea typeface="Calibri" pitchFamily="34" charset="-122"/>
                <a:cs typeface="Calibri" pitchFamily="34" charset="-120"/>
              </a:rPr>
              <a:t>Clicking Next without an answer shows an explicit message, instead of a silently disabled button</a:t>
            </a:r>
            <a:endParaRPr lang="en-US" sz="1350" dirty="0"/>
          </a:p>
        </p:txBody>
      </p:sp>
      <p:sp>
        <p:nvSpPr>
          <p:cNvPr id="10" name="Shape 7"/>
          <p:cNvSpPr/>
          <p:nvPr/>
        </p:nvSpPr>
        <p:spPr>
          <a:xfrm>
            <a:off x="640080" y="3447288"/>
            <a:ext cx="10911535" cy="1115568"/>
          </a:xfrm>
          <a:prstGeom prst="roundRect">
            <a:avLst>
              <a:gd name="adj" fmla="val 7377"/>
            </a:avLst>
          </a:prstGeom>
          <a:solidFill>
            <a:srgbClr val="19160F"/>
          </a:solidFill>
          <a:ln w="12700">
            <a:solidFill>
              <a:srgbClr val="332C24"/>
            </a:solidFill>
            <a:prstDash val="solid"/>
          </a:ln>
        </p:spPr>
      </p:sp>
      <p:sp>
        <p:nvSpPr>
          <p:cNvPr id="11" name="Shape 8"/>
          <p:cNvSpPr/>
          <p:nvPr/>
        </p:nvSpPr>
        <p:spPr>
          <a:xfrm>
            <a:off x="969264" y="3767328"/>
            <a:ext cx="475488" cy="475488"/>
          </a:xfrm>
          <a:prstGeom prst="ellipse">
            <a:avLst/>
          </a:prstGeom>
          <a:solidFill>
            <a:srgbClr val="0D0B08"/>
          </a:solidFill>
          <a:ln w="15875">
            <a:solidFill>
              <a:srgbClr val="E8A84E"/>
            </a:solidFill>
            <a:prstDash val="solid"/>
          </a:ln>
        </p:spPr>
      </p:sp>
      <p:sp>
        <p:nvSpPr>
          <p:cNvPr id="12" name="Text 9"/>
          <p:cNvSpPr/>
          <p:nvPr/>
        </p:nvSpPr>
        <p:spPr>
          <a:xfrm>
            <a:off x="969264" y="3767328"/>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2</a:t>
            </a:r>
            <a:endParaRPr lang="en-US" sz="1200" dirty="0"/>
          </a:p>
        </p:txBody>
      </p:sp>
      <p:sp>
        <p:nvSpPr>
          <p:cNvPr id="13" name="Text 10"/>
          <p:cNvSpPr/>
          <p:nvPr/>
        </p:nvSpPr>
        <p:spPr>
          <a:xfrm>
            <a:off x="1682496" y="3648456"/>
            <a:ext cx="2743200" cy="329184"/>
          </a:xfrm>
          <a:prstGeom prst="rect">
            <a:avLst/>
          </a:prstGeom>
          <a:noFill/>
          <a:ln/>
        </p:spPr>
        <p:txBody>
          <a:bodyPr wrap="square" lIns="0" tIns="0" rIns="0" bIns="0" rtlCol="0" anchor="ctr"/>
          <a:lstStyle/>
          <a:p>
            <a:pPr indent="0" marL="0">
              <a:buNone/>
            </a:pPr>
            <a:r>
              <a:rPr lang="en-US" sz="1500" b="1" dirty="0">
                <a:solidFill>
                  <a:srgbClr val="F5F0E8"/>
                </a:solidFill>
                <a:latin typeface="Arial" pitchFamily="34" charset="0"/>
                <a:ea typeface="Arial" pitchFamily="34" charset="-122"/>
                <a:cs typeface="Arial" pitchFamily="34" charset="-120"/>
              </a:rPr>
              <a:t>At submission</a:t>
            </a:r>
            <a:endParaRPr lang="en-US" sz="1500" dirty="0"/>
          </a:p>
        </p:txBody>
      </p:sp>
      <p:sp>
        <p:nvSpPr>
          <p:cNvPr id="14" name="Text 11"/>
          <p:cNvSpPr/>
          <p:nvPr/>
        </p:nvSpPr>
        <p:spPr>
          <a:xfrm>
            <a:off x="1682496" y="3995928"/>
            <a:ext cx="9448495" cy="457200"/>
          </a:xfrm>
          <a:prstGeom prst="rect">
            <a:avLst/>
          </a:prstGeom>
          <a:noFill/>
          <a:ln/>
        </p:spPr>
        <p:txBody>
          <a:bodyPr wrap="square" lIns="0" tIns="0" rIns="0" bIns="0" rtlCol="0" anchor="t"/>
          <a:lstStyle/>
          <a:p>
            <a:pPr indent="0" marL="0">
              <a:lnSpc>
                <a:spcPct val="110000"/>
              </a:lnSpc>
              <a:buNone/>
            </a:pPr>
            <a:r>
              <a:rPr lang="en-US" sz="1350" dirty="0">
                <a:solidFill>
                  <a:srgbClr val="958C80"/>
                </a:solidFill>
                <a:latin typeface="Calibri" pitchFamily="34" charset="0"/>
                <a:ea typeface="Calibri" pitchFamily="34" charset="-122"/>
                <a:cs typeface="Calibri" pitchFamily="34" charset="-120"/>
              </a:rPr>
              <a:t>A review screen lists all 20 answers by category; submitting while incomplete names the exact questions missing</a:t>
            </a:r>
            <a:endParaRPr lang="en-US" sz="1350" dirty="0"/>
          </a:p>
        </p:txBody>
      </p:sp>
      <p:sp>
        <p:nvSpPr>
          <p:cNvPr id="15" name="Shape 12"/>
          <p:cNvSpPr/>
          <p:nvPr/>
        </p:nvSpPr>
        <p:spPr>
          <a:xfrm>
            <a:off x="640080" y="4745736"/>
            <a:ext cx="10911535" cy="1115568"/>
          </a:xfrm>
          <a:prstGeom prst="roundRect">
            <a:avLst>
              <a:gd name="adj" fmla="val 7377"/>
            </a:avLst>
          </a:prstGeom>
          <a:solidFill>
            <a:srgbClr val="19160F"/>
          </a:solidFill>
          <a:ln w="12700">
            <a:solidFill>
              <a:srgbClr val="332C24"/>
            </a:solidFill>
            <a:prstDash val="solid"/>
          </a:ln>
        </p:spPr>
      </p:sp>
      <p:sp>
        <p:nvSpPr>
          <p:cNvPr id="16" name="Shape 13"/>
          <p:cNvSpPr/>
          <p:nvPr/>
        </p:nvSpPr>
        <p:spPr>
          <a:xfrm>
            <a:off x="969264" y="5065776"/>
            <a:ext cx="475488" cy="475488"/>
          </a:xfrm>
          <a:prstGeom prst="ellipse">
            <a:avLst/>
          </a:prstGeom>
          <a:solidFill>
            <a:srgbClr val="0D0B08"/>
          </a:solidFill>
          <a:ln w="15875">
            <a:solidFill>
              <a:srgbClr val="E8A84E"/>
            </a:solidFill>
            <a:prstDash val="solid"/>
          </a:ln>
        </p:spPr>
      </p:sp>
      <p:sp>
        <p:nvSpPr>
          <p:cNvPr id="17" name="Text 14"/>
          <p:cNvSpPr/>
          <p:nvPr/>
        </p:nvSpPr>
        <p:spPr>
          <a:xfrm>
            <a:off x="969264" y="5065776"/>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3</a:t>
            </a:r>
            <a:endParaRPr lang="en-US" sz="1200" dirty="0"/>
          </a:p>
        </p:txBody>
      </p:sp>
      <p:sp>
        <p:nvSpPr>
          <p:cNvPr id="18" name="Text 15"/>
          <p:cNvSpPr/>
          <p:nvPr/>
        </p:nvSpPr>
        <p:spPr>
          <a:xfrm>
            <a:off x="1682496" y="4946904"/>
            <a:ext cx="2743200" cy="329184"/>
          </a:xfrm>
          <a:prstGeom prst="rect">
            <a:avLst/>
          </a:prstGeom>
          <a:noFill/>
          <a:ln/>
        </p:spPr>
        <p:txBody>
          <a:bodyPr wrap="square" lIns="0" tIns="0" rIns="0" bIns="0" rtlCol="0" anchor="ctr"/>
          <a:lstStyle/>
          <a:p>
            <a:pPr indent="0" marL="0">
              <a:buNone/>
            </a:pPr>
            <a:r>
              <a:rPr lang="en-US" sz="1500" b="1" dirty="0">
                <a:solidFill>
                  <a:srgbClr val="F5F0E8"/>
                </a:solidFill>
                <a:latin typeface="Arial" pitchFamily="34" charset="0"/>
                <a:ea typeface="Arial" pitchFamily="34" charset="-122"/>
                <a:cs typeface="Arial" pitchFamily="34" charset="-120"/>
              </a:rPr>
              <a:t>One gate</a:t>
            </a:r>
            <a:endParaRPr lang="en-US" sz="1500" dirty="0"/>
          </a:p>
        </p:txBody>
      </p:sp>
      <p:sp>
        <p:nvSpPr>
          <p:cNvPr id="19" name="Text 16"/>
          <p:cNvSpPr/>
          <p:nvPr/>
        </p:nvSpPr>
        <p:spPr>
          <a:xfrm>
            <a:off x="1682496" y="5294376"/>
            <a:ext cx="9448495" cy="457200"/>
          </a:xfrm>
          <a:prstGeom prst="rect">
            <a:avLst/>
          </a:prstGeom>
          <a:noFill/>
          <a:ln/>
        </p:spPr>
        <p:txBody>
          <a:bodyPr wrap="square" lIns="0" tIns="0" rIns="0" bIns="0" rtlCol="0" anchor="t"/>
          <a:lstStyle/>
          <a:p>
            <a:pPr indent="0" marL="0">
              <a:lnSpc>
                <a:spcPct val="110000"/>
              </a:lnSpc>
              <a:buNone/>
            </a:pPr>
            <a:r>
              <a:rPr lang="en-US" sz="1350" dirty="0">
                <a:solidFill>
                  <a:srgbClr val="958C80"/>
                </a:solidFill>
                <a:latin typeface="Calibri" pitchFamily="34" charset="0"/>
                <a:ea typeface="Calibri" pitchFamily="34" charset="-122"/>
                <a:cs typeface="Calibri" pitchFamily="34" charset="-120"/>
              </a:rPr>
              <a:t>No score is calculated, stored or emailed until all 20 questions hold a valid answer</a:t>
            </a:r>
            <a:endParaRPr lang="en-US" sz="1350" dirty="0"/>
          </a:p>
        </p:txBody>
      </p:sp>
      <p:sp>
        <p:nvSpPr>
          <p:cNvPr id="20" name="Shape 17"/>
          <p:cNvSpPr/>
          <p:nvPr/>
        </p:nvSpPr>
        <p:spPr>
          <a:xfrm>
            <a:off x="640080" y="6245352"/>
            <a:ext cx="10911535" cy="0"/>
          </a:xfrm>
          <a:prstGeom prst="line">
            <a:avLst/>
          </a:prstGeom>
          <a:noFill/>
          <a:ln w="12700">
            <a:solidFill>
              <a:srgbClr val="332C24"/>
            </a:solidFill>
            <a:prstDash val="solid"/>
          </a:ln>
        </p:spPr>
      </p:sp>
      <p:sp>
        <p:nvSpPr>
          <p:cNvPr id="21" name="Text 18"/>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VALIDATION</a:t>
            </a:r>
            <a:endParaRPr lang="en-US" sz="900" dirty="0"/>
          </a:p>
        </p:txBody>
      </p:sp>
      <p:sp>
        <p:nvSpPr>
          <p:cNvPr id="22" name="Text 19"/>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B08"/>
        </a:solidFill>
      </p:bgPr>
    </p:bg>
    <p:spTree>
      <p:nvGrpSpPr>
        <p:cNvPr id="1" name=""/>
        <p:cNvGrpSpPr/>
        <p:nvPr/>
      </p:nvGrpSpPr>
      <p:grpSpPr>
        <a:xfrm>
          <a:off x="0" y="0"/>
          <a:ext cx="0" cy="0"/>
          <a:chOff x="0" y="0"/>
          <a:chExt cx="0" cy="0"/>
        </a:xfrm>
      </p:grpSpPr>
      <p:sp>
        <p:nvSpPr>
          <p:cNvPr id="3" name="Shape 0"/>
          <p:cNvSpPr/>
          <p:nvPr/>
        </p:nvSpPr>
        <p:spPr>
          <a:xfrm>
            <a:off x="5532120" y="1783080"/>
            <a:ext cx="1417320" cy="1417320"/>
          </a:xfrm>
          <a:prstGeom prst="ellipse">
            <a:avLst/>
          </a:prstGeom>
          <a:solidFill>
            <a:srgbClr val="0D0B08"/>
          </a:solidFill>
          <a:ln w="25400">
            <a:solidFill>
              <a:srgbClr val="C17F3A"/>
            </a:solidFill>
            <a:prstDash val="solid"/>
          </a:ln>
        </p:spPr>
      </p:sp>
      <p:sp>
        <p:nvSpPr>
          <p:cNvPr id="4" name="Text 1"/>
          <p:cNvSpPr/>
          <p:nvPr/>
        </p:nvSpPr>
        <p:spPr>
          <a:xfrm>
            <a:off x="5532120" y="1783080"/>
            <a:ext cx="1417320" cy="1417320"/>
          </a:xfrm>
          <a:prstGeom prst="rect">
            <a:avLst/>
          </a:prstGeom>
          <a:noFill/>
          <a:ln/>
        </p:spPr>
        <p:txBody>
          <a:bodyPr wrap="square" lIns="0" tIns="0" rIns="0" bIns="0" rtlCol="0" anchor="ctr"/>
          <a:lstStyle/>
          <a:p>
            <a:pPr algn="ctr" indent="0" marL="0">
              <a:buNone/>
            </a:pPr>
            <a:r>
              <a:rPr lang="en-US" sz="3000" dirty="0">
                <a:solidFill>
                  <a:srgbClr val="E8A84E"/>
                </a:solidFill>
                <a:latin typeface="Arial" pitchFamily="34" charset="0"/>
                <a:ea typeface="Arial" pitchFamily="34" charset="-122"/>
                <a:cs typeface="Arial" pitchFamily="34" charset="-120"/>
              </a:rPr>
              <a:t>▶</a:t>
            </a:r>
            <a:endParaRPr lang="en-US" sz="3000" dirty="0"/>
          </a:p>
        </p:txBody>
      </p:sp>
      <p:sp>
        <p:nvSpPr>
          <p:cNvPr id="5" name="Text 2"/>
          <p:cNvSpPr/>
          <p:nvPr/>
        </p:nvSpPr>
        <p:spPr>
          <a:xfrm>
            <a:off x="640080" y="3520440"/>
            <a:ext cx="10911535" cy="822960"/>
          </a:xfrm>
          <a:prstGeom prst="rect">
            <a:avLst/>
          </a:prstGeom>
          <a:noFill/>
          <a:ln/>
        </p:spPr>
        <p:txBody>
          <a:bodyPr wrap="square" lIns="0" tIns="0" rIns="0" bIns="0" rtlCol="0" anchor="ctr"/>
          <a:lstStyle/>
          <a:p>
            <a:pPr algn="ctr" indent="0" marL="0">
              <a:buNone/>
            </a:pPr>
            <a:r>
              <a:rPr lang="en-US" sz="3800" b="1" dirty="0">
                <a:solidFill>
                  <a:srgbClr val="F5F0E8"/>
                </a:solidFill>
                <a:latin typeface="Arial" pitchFamily="34" charset="0"/>
                <a:ea typeface="Arial" pitchFamily="34" charset="-122"/>
                <a:cs typeface="Arial" pitchFamily="34" charset="-120"/>
              </a:rPr>
              <a:t>Live demo </a:t>
            </a:r>
            <a:pPr algn="ctr" indent="0" marL="0">
              <a:buNone/>
            </a:pPr>
            <a:r>
              <a:rPr lang="en-US" sz="3800" b="1" i="1" dirty="0">
                <a:solidFill>
                  <a:srgbClr val="C17F3A"/>
                </a:solidFill>
                <a:latin typeface="Arial" pitchFamily="34" charset="0"/>
                <a:ea typeface="Arial" pitchFamily="34" charset="-122"/>
                <a:cs typeface="Arial" pitchFamily="34" charset="-120"/>
              </a:rPr>
              <a:t>one.</a:t>
            </a:r>
            <a:endParaRPr lang="en-US" sz="3800" dirty="0"/>
          </a:p>
        </p:txBody>
      </p:sp>
      <p:sp>
        <p:nvSpPr>
          <p:cNvPr id="6" name="Text 3"/>
          <p:cNvSpPr/>
          <p:nvPr/>
        </p:nvSpPr>
        <p:spPr>
          <a:xfrm>
            <a:off x="1828800" y="4389120"/>
            <a:ext cx="8531352" cy="548640"/>
          </a:xfrm>
          <a:prstGeom prst="rect">
            <a:avLst/>
          </a:prstGeom>
          <a:noFill/>
          <a:ln/>
        </p:spPr>
        <p:txBody>
          <a:bodyPr wrap="square" lIns="0" tIns="0" rIns="0" bIns="0" rtlCol="0" anchor="ctr"/>
          <a:lstStyle/>
          <a:p>
            <a:pPr algn="ctr" indent="0" marL="0">
              <a:buNone/>
            </a:pPr>
            <a:r>
              <a:rPr lang="en-US" sz="1400" dirty="0">
                <a:solidFill>
                  <a:srgbClr val="958C80"/>
                </a:solidFill>
                <a:latin typeface="Calibri" pitchFamily="34" charset="0"/>
                <a:ea typeface="Calibri" pitchFamily="34" charset="-122"/>
                <a:cs typeface="Calibri" pitchFamily="34" charset="-120"/>
              </a:rPr>
              <a:t>Submitting an incomplete survey  ·  the error message  ·  the review screen  ·  completing and scoring</a:t>
            </a:r>
            <a:endParaRPr lang="en-US" sz="1400" dirty="0"/>
          </a:p>
        </p:txBody>
      </p:sp>
      <p:sp>
        <p:nvSpPr>
          <p:cNvPr id="7" name="Shape 4"/>
          <p:cNvSpPr/>
          <p:nvPr/>
        </p:nvSpPr>
        <p:spPr>
          <a:xfrm>
            <a:off x="640080" y="6245352"/>
            <a:ext cx="10911535" cy="0"/>
          </a:xfrm>
          <a:prstGeom prst="line">
            <a:avLst/>
          </a:prstGeom>
          <a:noFill/>
          <a:ln w="12700">
            <a:solidFill>
              <a:srgbClr val="332C24"/>
            </a:solidFill>
            <a:prstDash val="solid"/>
          </a:ln>
        </p:spPr>
      </p:sp>
      <p:sp>
        <p:nvSpPr>
          <p:cNvPr id="8" name="Text 5"/>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DEMO</a:t>
            </a:r>
            <a:endParaRPr lang="en-US" sz="900" dirty="0"/>
          </a:p>
        </p:txBody>
      </p:sp>
      <p:sp>
        <p:nvSpPr>
          <p:cNvPr id="9" name="Text 6"/>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R1 · DEMOGRAPHICS</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Asked once, </a:t>
            </a:r>
            <a:pPr indent="0" marL="0">
              <a:buNone/>
            </a:pPr>
            <a:r>
              <a:rPr lang="en-US" sz="3400" b="1" i="1" dirty="0">
                <a:solidFill>
                  <a:srgbClr val="C17F3A"/>
                </a:solidFill>
                <a:latin typeface="Arial" pitchFamily="34" charset="0"/>
                <a:ea typeface="Arial" pitchFamily="34" charset="-122"/>
                <a:cs typeface="Arial" pitchFamily="34" charset="-120"/>
              </a:rPr>
              <a:t>never forced.</a:t>
            </a:r>
            <a:endParaRPr lang="en-US" sz="3400" dirty="0"/>
          </a:p>
        </p:txBody>
      </p:sp>
      <p:sp>
        <p:nvSpPr>
          <p:cNvPr id="5" name="Shape 2"/>
          <p:cNvSpPr/>
          <p:nvPr/>
        </p:nvSpPr>
        <p:spPr>
          <a:xfrm>
            <a:off x="640080" y="2194560"/>
            <a:ext cx="475488" cy="475488"/>
          </a:xfrm>
          <a:prstGeom prst="ellipse">
            <a:avLst/>
          </a:prstGeom>
          <a:solidFill>
            <a:srgbClr val="0D0B08"/>
          </a:solidFill>
          <a:ln w="15875">
            <a:solidFill>
              <a:srgbClr val="E8A84E"/>
            </a:solidFill>
            <a:prstDash val="solid"/>
          </a:ln>
        </p:spPr>
      </p:sp>
      <p:sp>
        <p:nvSpPr>
          <p:cNvPr id="6" name="Text 3"/>
          <p:cNvSpPr/>
          <p:nvPr/>
        </p:nvSpPr>
        <p:spPr>
          <a:xfrm>
            <a:off x="640080" y="2194560"/>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1</a:t>
            </a:r>
            <a:endParaRPr lang="en-US" sz="1200" dirty="0"/>
          </a:p>
        </p:txBody>
      </p:sp>
      <p:sp>
        <p:nvSpPr>
          <p:cNvPr id="7" name="Text 4"/>
          <p:cNvSpPr/>
          <p:nvPr/>
        </p:nvSpPr>
        <p:spPr>
          <a:xfrm>
            <a:off x="1353312" y="2139696"/>
            <a:ext cx="4651096" cy="603504"/>
          </a:xfrm>
          <a:prstGeom prst="rect">
            <a:avLst/>
          </a:prstGeom>
          <a:noFill/>
          <a:ln/>
        </p:spPr>
        <p:txBody>
          <a:bodyPr wrap="square" lIns="0" tIns="0" rIns="0" bIns="0" rtlCol="0" anchor="ctr"/>
          <a:lstStyle/>
          <a:p>
            <a:pPr indent="0" marL="0">
              <a:lnSpc>
                <a:spcPct val="106000"/>
              </a:lnSpc>
              <a:buNone/>
            </a:pPr>
            <a:r>
              <a:rPr lang="en-US" sz="1450" b="1" dirty="0">
                <a:solidFill>
                  <a:srgbClr val="F5F0E8"/>
                </a:solidFill>
                <a:latin typeface="Calibri" pitchFamily="34" charset="0"/>
                <a:ea typeface="Calibri" pitchFamily="34" charset="-122"/>
                <a:cs typeface="Calibri" pitchFamily="34" charset="-120"/>
              </a:rPr>
              <a:t>Yes</a:t>
            </a:r>
            <a:endParaRPr lang="en-US" sz="1450" dirty="0"/>
          </a:p>
        </p:txBody>
      </p:sp>
      <p:sp>
        <p:nvSpPr>
          <p:cNvPr id="8" name="Text 5"/>
          <p:cNvSpPr/>
          <p:nvPr/>
        </p:nvSpPr>
        <p:spPr>
          <a:xfrm>
            <a:off x="1353312" y="2505456"/>
            <a:ext cx="4651096" cy="365760"/>
          </a:xfrm>
          <a:prstGeom prst="rect">
            <a:avLst/>
          </a:prstGeom>
          <a:noFill/>
          <a:ln/>
        </p:spPr>
        <p:txBody>
          <a:bodyPr wrap="square" lIns="0" tIns="0" rIns="0" bIns="0" rtlCol="0" anchor="t"/>
          <a:lstStyle/>
          <a:p>
            <a:pPr indent="0" marL="0">
              <a:buNone/>
            </a:pPr>
            <a:r>
              <a:rPr lang="en-US" sz="1350" dirty="0">
                <a:solidFill>
                  <a:srgbClr val="958C80"/>
                </a:solidFill>
                <a:latin typeface="Calibri" pitchFamily="34" charset="0"/>
                <a:ea typeface="Calibri" pitchFamily="34" charset="-122"/>
                <a:cs typeface="Calibri" pitchFamily="34" charset="-120"/>
              </a:rPr>
              <a:t>A dedicated page opens</a:t>
            </a:r>
            <a:endParaRPr lang="en-US" sz="1350" dirty="0"/>
          </a:p>
        </p:txBody>
      </p:sp>
      <p:sp>
        <p:nvSpPr>
          <p:cNvPr id="9" name="Shape 6"/>
          <p:cNvSpPr/>
          <p:nvPr/>
        </p:nvSpPr>
        <p:spPr>
          <a:xfrm>
            <a:off x="640080" y="3154680"/>
            <a:ext cx="475488" cy="475488"/>
          </a:xfrm>
          <a:prstGeom prst="ellipse">
            <a:avLst/>
          </a:prstGeom>
          <a:solidFill>
            <a:srgbClr val="0D0B08"/>
          </a:solidFill>
          <a:ln w="15875">
            <a:solidFill>
              <a:srgbClr val="E8A84E"/>
            </a:solidFill>
            <a:prstDash val="solid"/>
          </a:ln>
        </p:spPr>
      </p:sp>
      <p:sp>
        <p:nvSpPr>
          <p:cNvPr id="10" name="Text 7"/>
          <p:cNvSpPr/>
          <p:nvPr/>
        </p:nvSpPr>
        <p:spPr>
          <a:xfrm>
            <a:off x="640080" y="3154680"/>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1353312" y="3099816"/>
            <a:ext cx="4651096" cy="603504"/>
          </a:xfrm>
          <a:prstGeom prst="rect">
            <a:avLst/>
          </a:prstGeom>
          <a:noFill/>
          <a:ln/>
        </p:spPr>
        <p:txBody>
          <a:bodyPr wrap="square" lIns="0" tIns="0" rIns="0" bIns="0" rtlCol="0" anchor="ctr"/>
          <a:lstStyle/>
          <a:p>
            <a:pPr indent="0" marL="0">
              <a:lnSpc>
                <a:spcPct val="106000"/>
              </a:lnSpc>
              <a:buNone/>
            </a:pPr>
            <a:r>
              <a:rPr lang="en-US" sz="1450" b="1" dirty="0">
                <a:solidFill>
                  <a:srgbClr val="F5F0E8"/>
                </a:solidFill>
                <a:latin typeface="Calibri" pitchFamily="34" charset="0"/>
                <a:ea typeface="Calibri" pitchFamily="34" charset="-122"/>
                <a:cs typeface="Calibri" pitchFamily="34" charset="-120"/>
              </a:rPr>
              <a:t>No thanks</a:t>
            </a:r>
            <a:endParaRPr lang="en-US" sz="1450" dirty="0"/>
          </a:p>
        </p:txBody>
      </p:sp>
      <p:sp>
        <p:nvSpPr>
          <p:cNvPr id="12" name="Text 9"/>
          <p:cNvSpPr/>
          <p:nvPr/>
        </p:nvSpPr>
        <p:spPr>
          <a:xfrm>
            <a:off x="1353312" y="3465576"/>
            <a:ext cx="4651096" cy="365760"/>
          </a:xfrm>
          <a:prstGeom prst="rect">
            <a:avLst/>
          </a:prstGeom>
          <a:noFill/>
          <a:ln/>
        </p:spPr>
        <p:txBody>
          <a:bodyPr wrap="square" lIns="0" tIns="0" rIns="0" bIns="0" rtlCol="0" anchor="t"/>
          <a:lstStyle/>
          <a:p>
            <a:pPr indent="0" marL="0">
              <a:buNone/>
            </a:pPr>
            <a:r>
              <a:rPr lang="en-US" sz="1350" dirty="0">
                <a:solidFill>
                  <a:srgbClr val="958C80"/>
                </a:solidFill>
                <a:latin typeface="Calibri" pitchFamily="34" charset="0"/>
                <a:ea typeface="Calibri" pitchFamily="34" charset="-122"/>
                <a:cs typeface="Calibri" pitchFamily="34" charset="-120"/>
              </a:rPr>
              <a:t>Straight to their results</a:t>
            </a:r>
            <a:endParaRPr lang="en-US" sz="1350" dirty="0"/>
          </a:p>
        </p:txBody>
      </p:sp>
      <p:sp>
        <p:nvSpPr>
          <p:cNvPr id="13" name="Shape 10"/>
          <p:cNvSpPr/>
          <p:nvPr/>
        </p:nvSpPr>
        <p:spPr>
          <a:xfrm>
            <a:off x="640080" y="4114800"/>
            <a:ext cx="475488" cy="475488"/>
          </a:xfrm>
          <a:prstGeom prst="ellipse">
            <a:avLst/>
          </a:prstGeom>
          <a:solidFill>
            <a:srgbClr val="0D0B08"/>
          </a:solidFill>
          <a:ln w="15875">
            <a:solidFill>
              <a:srgbClr val="E8A84E"/>
            </a:solidFill>
            <a:prstDash val="solid"/>
          </a:ln>
        </p:spPr>
      </p:sp>
      <p:sp>
        <p:nvSpPr>
          <p:cNvPr id="14" name="Text 11"/>
          <p:cNvSpPr/>
          <p:nvPr/>
        </p:nvSpPr>
        <p:spPr>
          <a:xfrm>
            <a:off x="640080" y="4114800"/>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3</a:t>
            </a:r>
            <a:endParaRPr lang="en-US" sz="1200" dirty="0"/>
          </a:p>
        </p:txBody>
      </p:sp>
      <p:sp>
        <p:nvSpPr>
          <p:cNvPr id="15" name="Text 12"/>
          <p:cNvSpPr/>
          <p:nvPr/>
        </p:nvSpPr>
        <p:spPr>
          <a:xfrm>
            <a:off x="1353312" y="4059936"/>
            <a:ext cx="4651096" cy="603504"/>
          </a:xfrm>
          <a:prstGeom prst="rect">
            <a:avLst/>
          </a:prstGeom>
          <a:noFill/>
          <a:ln/>
        </p:spPr>
        <p:txBody>
          <a:bodyPr wrap="square" lIns="0" tIns="0" rIns="0" bIns="0" rtlCol="0" anchor="ctr"/>
          <a:lstStyle/>
          <a:p>
            <a:pPr indent="0" marL="0">
              <a:lnSpc>
                <a:spcPct val="106000"/>
              </a:lnSpc>
              <a:buNone/>
            </a:pPr>
            <a:r>
              <a:rPr lang="en-US" sz="1450" b="1" dirty="0">
                <a:solidFill>
                  <a:srgbClr val="F5F0E8"/>
                </a:solidFill>
                <a:latin typeface="Calibri" pitchFamily="34" charset="0"/>
                <a:ea typeface="Calibri" pitchFamily="34" charset="-122"/>
                <a:cs typeface="Calibri" pitchFamily="34" charset="-120"/>
              </a:rPr>
              <a:t>Either way</a:t>
            </a:r>
            <a:endParaRPr lang="en-US" sz="1450" dirty="0"/>
          </a:p>
        </p:txBody>
      </p:sp>
      <p:sp>
        <p:nvSpPr>
          <p:cNvPr id="16" name="Text 13"/>
          <p:cNvSpPr/>
          <p:nvPr/>
        </p:nvSpPr>
        <p:spPr>
          <a:xfrm>
            <a:off x="1353312" y="4425696"/>
            <a:ext cx="4651096" cy="365760"/>
          </a:xfrm>
          <a:prstGeom prst="rect">
            <a:avLst/>
          </a:prstGeom>
          <a:noFill/>
          <a:ln/>
        </p:spPr>
        <p:txBody>
          <a:bodyPr wrap="square" lIns="0" tIns="0" rIns="0" bIns="0" rtlCol="0" anchor="t"/>
          <a:lstStyle/>
          <a:p>
            <a:pPr indent="0" marL="0">
              <a:buNone/>
            </a:pPr>
            <a:r>
              <a:rPr lang="en-US" sz="1350" dirty="0">
                <a:solidFill>
                  <a:srgbClr val="958C80"/>
                </a:solidFill>
                <a:latin typeface="Calibri" pitchFamily="34" charset="0"/>
                <a:ea typeface="Calibri" pitchFamily="34" charset="-122"/>
                <a:cs typeface="Calibri" pitchFamily="34" charset="-120"/>
              </a:rPr>
              <a:t>Results are one click away</a:t>
            </a:r>
            <a:endParaRPr lang="en-US" sz="1350" dirty="0"/>
          </a:p>
        </p:txBody>
      </p:sp>
      <p:sp>
        <p:nvSpPr>
          <p:cNvPr id="17" name="Shape 14"/>
          <p:cNvSpPr/>
          <p:nvPr/>
        </p:nvSpPr>
        <p:spPr>
          <a:xfrm>
            <a:off x="6187288" y="2103120"/>
            <a:ext cx="5364328" cy="2697480"/>
          </a:xfrm>
          <a:prstGeom prst="roundRect">
            <a:avLst>
              <a:gd name="adj" fmla="val 3051"/>
            </a:avLst>
          </a:prstGeom>
          <a:solidFill>
            <a:srgbClr val="19160F"/>
          </a:solidFill>
          <a:ln w="12700">
            <a:solidFill>
              <a:srgbClr val="332C24"/>
            </a:solidFill>
            <a:prstDash val="solid"/>
          </a:ln>
        </p:spPr>
      </p:sp>
      <p:sp>
        <p:nvSpPr>
          <p:cNvPr id="18" name="Text 15"/>
          <p:cNvSpPr/>
          <p:nvPr/>
        </p:nvSpPr>
        <p:spPr>
          <a:xfrm>
            <a:off x="6553048" y="2395728"/>
            <a:ext cx="4632808" cy="274320"/>
          </a:xfrm>
          <a:prstGeom prst="rect">
            <a:avLst/>
          </a:prstGeom>
          <a:noFill/>
          <a:ln/>
        </p:spPr>
        <p:txBody>
          <a:bodyPr wrap="square" lIns="0" tIns="0" rIns="0" bIns="0" rtlCol="0" anchor="ctr"/>
          <a:lstStyle/>
          <a:p>
            <a:pPr indent="0" marL="0">
              <a:buNone/>
            </a:pPr>
            <a:r>
              <a:rPr lang="en-US" sz="950" b="1" spc="200" kern="0" dirty="0">
                <a:solidFill>
                  <a:srgbClr val="958C80"/>
                </a:solidFill>
                <a:latin typeface="Arial" pitchFamily="34" charset="0"/>
                <a:ea typeface="Arial" pitchFamily="34" charset="-122"/>
                <a:cs typeface="Arial" pitchFamily="34" charset="-120"/>
              </a:rPr>
              <a:t>WHAT WE COLLECT</a:t>
            </a:r>
            <a:endParaRPr lang="en-US" sz="950" dirty="0"/>
          </a:p>
        </p:txBody>
      </p:sp>
      <p:sp>
        <p:nvSpPr>
          <p:cNvPr id="19" name="Text 16"/>
          <p:cNvSpPr/>
          <p:nvPr/>
        </p:nvSpPr>
        <p:spPr>
          <a:xfrm>
            <a:off x="6553048" y="2788920"/>
            <a:ext cx="4632808" cy="1463040"/>
          </a:xfrm>
          <a:prstGeom prst="rect">
            <a:avLst/>
          </a:prstGeom>
          <a:noFill/>
          <a:ln/>
        </p:spPr>
        <p:txBody>
          <a:bodyPr wrap="square" lIns="0" tIns="0" rIns="0" bIns="0" rtlCol="0" anchor="t"/>
          <a:lstStyle/>
          <a:p>
            <a:pPr indent="0" marL="0">
              <a:lnSpc>
                <a:spcPct val="145000"/>
              </a:lnSpc>
              <a:buNone/>
            </a:pPr>
            <a:r>
              <a:rPr lang="en-US" sz="1450" b="1" dirty="0">
                <a:solidFill>
                  <a:srgbClr val="F5F0E8"/>
                </a:solidFill>
                <a:latin typeface="Calibri" pitchFamily="34" charset="0"/>
                <a:ea typeface="Calibri" pitchFamily="34" charset="-122"/>
                <a:cs typeface="Calibri" pitchFamily="34" charset="-120"/>
              </a:rPr>
              <a:t>Age group</a:t>
            </a:r>
            <a:pPr indent="0" marL="0">
              <a:lnSpc>
                <a:spcPct val="145000"/>
              </a:lnSpc>
              <a:buNone/>
            </a:pPr>
            <a:r>
              <a:rPr lang="en-US" sz="1450" dirty="0">
                <a:solidFill>
                  <a:srgbClr val="958C80"/>
                </a:solidFill>
                <a:latin typeface="Calibri" pitchFamily="34" charset="0"/>
                <a:ea typeface="Calibri" pitchFamily="34" charset="-122"/>
                <a:cs typeface="Calibri" pitchFamily="34" charset="-120"/>
              </a:rPr>
              <a:t>  —  six bands</a:t>
            </a:r>
            <a:endParaRPr lang="en-US" sz="1450" dirty="0"/>
          </a:p>
          <a:p>
            <a:pPr indent="0" marL="0">
              <a:lnSpc>
                <a:spcPct val="145000"/>
              </a:lnSpc>
              <a:buNone/>
            </a:pPr>
            <a:r>
              <a:rPr lang="en-US" sz="1450" b="1" dirty="0">
                <a:solidFill>
                  <a:srgbClr val="F5F0E8"/>
                </a:solidFill>
                <a:latin typeface="Calibri" pitchFamily="34" charset="0"/>
                <a:ea typeface="Calibri" pitchFamily="34" charset="-122"/>
                <a:cs typeface="Calibri" pitchFamily="34" charset="-120"/>
              </a:rPr>
              <a:t>Gender</a:t>
            </a:r>
            <a:pPr indent="0" marL="0">
              <a:lnSpc>
                <a:spcPct val="145000"/>
              </a:lnSpc>
              <a:buNone/>
            </a:pPr>
            <a:r>
              <a:rPr lang="en-US" sz="1450" dirty="0">
                <a:solidFill>
                  <a:srgbClr val="958C80"/>
                </a:solidFill>
                <a:latin typeface="Calibri" pitchFamily="34" charset="0"/>
                <a:ea typeface="Calibri" pitchFamily="34" charset="-122"/>
                <a:cs typeface="Calibri" pitchFamily="34" charset="-120"/>
              </a:rPr>
              <a:t>  —  with free text for “other”</a:t>
            </a:r>
            <a:endParaRPr lang="en-US" sz="1450" dirty="0"/>
          </a:p>
          <a:p>
            <a:pPr indent="0" marL="0">
              <a:lnSpc>
                <a:spcPct val="145000"/>
              </a:lnSpc>
              <a:buNone/>
            </a:pPr>
            <a:r>
              <a:rPr lang="en-US" sz="1450" b="1" dirty="0">
                <a:solidFill>
                  <a:srgbClr val="F5F0E8"/>
                </a:solidFill>
                <a:latin typeface="Calibri" pitchFamily="34" charset="0"/>
                <a:ea typeface="Calibri" pitchFamily="34" charset="-122"/>
                <a:cs typeface="Calibri" pitchFamily="34" charset="-120"/>
              </a:rPr>
              <a:t>Academic level</a:t>
            </a:r>
            <a:pPr indent="0" marL="0">
              <a:lnSpc>
                <a:spcPct val="145000"/>
              </a:lnSpc>
              <a:buNone/>
            </a:pPr>
            <a:r>
              <a:rPr lang="en-US" sz="1450" dirty="0">
                <a:solidFill>
                  <a:srgbClr val="958C80"/>
                </a:solidFill>
                <a:latin typeface="Calibri" pitchFamily="34" charset="0"/>
                <a:ea typeface="Calibri" pitchFamily="34" charset="-122"/>
                <a:cs typeface="Calibri" pitchFamily="34" charset="-120"/>
              </a:rPr>
              <a:t>  —  A to E</a:t>
            </a:r>
            <a:endParaRPr lang="en-US" sz="1450" dirty="0"/>
          </a:p>
        </p:txBody>
      </p:sp>
      <p:sp>
        <p:nvSpPr>
          <p:cNvPr id="20" name="Text 17"/>
          <p:cNvSpPr/>
          <p:nvPr/>
        </p:nvSpPr>
        <p:spPr>
          <a:xfrm>
            <a:off x="6553048" y="4224528"/>
            <a:ext cx="4632808" cy="457200"/>
          </a:xfrm>
          <a:prstGeom prst="rect">
            <a:avLst/>
          </a:prstGeom>
          <a:noFill/>
          <a:ln/>
        </p:spPr>
        <p:txBody>
          <a:bodyPr wrap="square" lIns="0" tIns="0" rIns="0" bIns="0" rtlCol="0" anchor="t"/>
          <a:lstStyle/>
          <a:p>
            <a:pPr indent="0" marL="0">
              <a:buNone/>
            </a:pPr>
            <a:r>
              <a:rPr lang="en-US" sz="1400" dirty="0">
                <a:solidFill>
                  <a:srgbClr val="958C80"/>
                </a:solidFill>
                <a:latin typeface="Calibri" pitchFamily="34" charset="0"/>
                <a:ea typeface="Calibri" pitchFamily="34" charset="-122"/>
                <a:cs typeface="Calibri" pitchFamily="34" charset="-120"/>
              </a:rPr>
              <a:t>Every question offers </a:t>
            </a:r>
            <a:pPr indent="0" marL="0">
              <a:buNone/>
            </a:pPr>
            <a:r>
              <a:rPr lang="en-US" sz="1400" i="1" dirty="0">
                <a:solidFill>
                  <a:srgbClr val="E8A84E"/>
                </a:solidFill>
                <a:latin typeface="Calibri" pitchFamily="34" charset="0"/>
                <a:ea typeface="Calibri" pitchFamily="34" charset="-122"/>
                <a:cs typeface="Calibri" pitchFamily="34" charset="-120"/>
              </a:rPr>
              <a:t>prefer not to say</a:t>
            </a:r>
            <a:pPr indent="0" marL="0">
              <a:buNone/>
            </a:pPr>
            <a:r>
              <a:rPr lang="en-US" sz="1400" dirty="0">
                <a:solidFill>
                  <a:srgbClr val="958C80"/>
                </a:solidFill>
                <a:latin typeface="Calibri" pitchFamily="34" charset="0"/>
                <a:ea typeface="Calibri" pitchFamily="34" charset="-122"/>
                <a:cs typeface="Calibri" pitchFamily="34" charset="-120"/>
              </a:rPr>
              <a:t>.</a:t>
            </a:r>
            <a:endParaRPr lang="en-US" sz="1400" dirty="0"/>
          </a:p>
        </p:txBody>
      </p:sp>
      <p:sp>
        <p:nvSpPr>
          <p:cNvPr id="21" name="Shape 18"/>
          <p:cNvSpPr/>
          <p:nvPr/>
        </p:nvSpPr>
        <p:spPr>
          <a:xfrm>
            <a:off x="640080" y="6245352"/>
            <a:ext cx="10911535" cy="0"/>
          </a:xfrm>
          <a:prstGeom prst="line">
            <a:avLst/>
          </a:prstGeom>
          <a:noFill/>
          <a:ln w="12700">
            <a:solidFill>
              <a:srgbClr val="332C24"/>
            </a:solidFill>
            <a:prstDash val="solid"/>
          </a:ln>
        </p:spPr>
      </p:sp>
      <p:sp>
        <p:nvSpPr>
          <p:cNvPr id="22" name="Text 19"/>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DEMOGRAPHICS</a:t>
            </a:r>
            <a:endParaRPr lang="en-US" sz="900" dirty="0"/>
          </a:p>
        </p:txBody>
      </p:sp>
      <p:sp>
        <p:nvSpPr>
          <p:cNvPr id="23" name="Text 20"/>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R1 · DEMOGRAPHICS</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Linked to the response, </a:t>
            </a:r>
            <a:pPr indent="0" marL="0">
              <a:buNone/>
            </a:pPr>
            <a:r>
              <a:rPr lang="en-US" sz="3400" b="1" i="1" dirty="0">
                <a:solidFill>
                  <a:srgbClr val="C17F3A"/>
                </a:solidFill>
                <a:latin typeface="Arial" pitchFamily="34" charset="0"/>
                <a:ea typeface="Arial" pitchFamily="34" charset="-122"/>
                <a:cs typeface="Arial" pitchFamily="34" charset="-120"/>
              </a:rPr>
              <a:t>not the person.</a:t>
            </a:r>
            <a:endParaRPr lang="en-US" sz="3400" dirty="0"/>
          </a:p>
        </p:txBody>
      </p:sp>
      <p:sp>
        <p:nvSpPr>
          <p:cNvPr id="5" name="Shape 2"/>
          <p:cNvSpPr/>
          <p:nvPr/>
        </p:nvSpPr>
        <p:spPr>
          <a:xfrm>
            <a:off x="640080" y="2194560"/>
            <a:ext cx="475488" cy="475488"/>
          </a:xfrm>
          <a:prstGeom prst="ellipse">
            <a:avLst/>
          </a:prstGeom>
          <a:solidFill>
            <a:srgbClr val="0D0B08"/>
          </a:solidFill>
          <a:ln w="15875">
            <a:solidFill>
              <a:srgbClr val="E8A84E"/>
            </a:solidFill>
            <a:prstDash val="solid"/>
          </a:ln>
        </p:spPr>
      </p:sp>
      <p:sp>
        <p:nvSpPr>
          <p:cNvPr id="6" name="Text 3"/>
          <p:cNvSpPr/>
          <p:nvPr/>
        </p:nvSpPr>
        <p:spPr>
          <a:xfrm>
            <a:off x="640080" y="2194560"/>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1</a:t>
            </a:r>
            <a:endParaRPr lang="en-US" sz="1200" dirty="0"/>
          </a:p>
        </p:txBody>
      </p:sp>
      <p:sp>
        <p:nvSpPr>
          <p:cNvPr id="7" name="Text 4"/>
          <p:cNvSpPr/>
          <p:nvPr/>
        </p:nvSpPr>
        <p:spPr>
          <a:xfrm>
            <a:off x="1353312" y="2103120"/>
            <a:ext cx="2834640" cy="329184"/>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Joined by session</a:t>
            </a:r>
            <a:endParaRPr lang="en-US" sz="1450" dirty="0"/>
          </a:p>
        </p:txBody>
      </p:sp>
      <p:sp>
        <p:nvSpPr>
          <p:cNvPr id="8" name="Text 5"/>
          <p:cNvSpPr/>
          <p:nvPr/>
        </p:nvSpPr>
        <p:spPr>
          <a:xfrm>
            <a:off x="4297680" y="2103120"/>
            <a:ext cx="7253935" cy="713232"/>
          </a:xfrm>
          <a:prstGeom prst="rect">
            <a:avLst/>
          </a:prstGeom>
          <a:noFill/>
          <a:ln/>
        </p:spPr>
        <p:txBody>
          <a:bodyPr wrap="square" lIns="0" tIns="0" rIns="0" bIns="0" rtlCol="0" anchor="t"/>
          <a:lstStyle/>
          <a:p>
            <a:pPr indent="0" marL="0">
              <a:lnSpc>
                <a:spcPct val="112000"/>
              </a:lnSpc>
              <a:buNone/>
            </a:pPr>
            <a:r>
              <a:rPr lang="en-US" sz="1350" dirty="0">
                <a:solidFill>
                  <a:srgbClr val="958C80"/>
                </a:solidFill>
                <a:latin typeface="Calibri" pitchFamily="34" charset="0"/>
                <a:ea typeface="Calibri" pitchFamily="34" charset="-122"/>
                <a:cs typeface="Calibri" pitchFamily="34" charset="-120"/>
              </a:rPr>
              <a:t>Demographics attach to the same record as the scores — exactly what the requirement asked for</a:t>
            </a:r>
            <a:endParaRPr lang="en-US" sz="1350" dirty="0"/>
          </a:p>
        </p:txBody>
      </p:sp>
      <p:sp>
        <p:nvSpPr>
          <p:cNvPr id="9" name="Shape 6"/>
          <p:cNvSpPr/>
          <p:nvPr/>
        </p:nvSpPr>
        <p:spPr>
          <a:xfrm>
            <a:off x="640080" y="3182112"/>
            <a:ext cx="475488" cy="475488"/>
          </a:xfrm>
          <a:prstGeom prst="ellipse">
            <a:avLst/>
          </a:prstGeom>
          <a:solidFill>
            <a:srgbClr val="0D0B08"/>
          </a:solidFill>
          <a:ln w="15875">
            <a:solidFill>
              <a:srgbClr val="E8A84E"/>
            </a:solidFill>
            <a:prstDash val="solid"/>
          </a:ln>
        </p:spPr>
      </p:sp>
      <p:sp>
        <p:nvSpPr>
          <p:cNvPr id="10" name="Text 7"/>
          <p:cNvSpPr/>
          <p:nvPr/>
        </p:nvSpPr>
        <p:spPr>
          <a:xfrm>
            <a:off x="640080" y="3182112"/>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1353312" y="3090672"/>
            <a:ext cx="2834640" cy="329184"/>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Declines recorded too</a:t>
            </a:r>
            <a:endParaRPr lang="en-US" sz="1450" dirty="0"/>
          </a:p>
        </p:txBody>
      </p:sp>
      <p:sp>
        <p:nvSpPr>
          <p:cNvPr id="12" name="Text 9"/>
          <p:cNvSpPr/>
          <p:nvPr/>
        </p:nvSpPr>
        <p:spPr>
          <a:xfrm>
            <a:off x="4297680" y="3090672"/>
            <a:ext cx="7253935" cy="713232"/>
          </a:xfrm>
          <a:prstGeom prst="rect">
            <a:avLst/>
          </a:prstGeom>
          <a:noFill/>
          <a:ln/>
        </p:spPr>
        <p:txBody>
          <a:bodyPr wrap="square" lIns="0" tIns="0" rIns="0" bIns="0" rtlCol="0" anchor="t"/>
          <a:lstStyle/>
          <a:p>
            <a:pPr indent="0" marL="0">
              <a:lnSpc>
                <a:spcPct val="112000"/>
              </a:lnSpc>
              <a:buNone/>
            </a:pPr>
            <a:r>
              <a:rPr lang="en-US" sz="1350" dirty="0">
                <a:solidFill>
                  <a:srgbClr val="958C80"/>
                </a:solidFill>
                <a:latin typeface="Calibri" pitchFamily="34" charset="0"/>
                <a:ea typeface="Calibri" pitchFamily="34" charset="-122"/>
                <a:cs typeface="Calibri" pitchFamily="34" charset="-120"/>
              </a:rPr>
              <a:t>Otherwise “85% opted in” is unmeasurable: a decline would look identical to never being asked</a:t>
            </a:r>
            <a:endParaRPr lang="en-US" sz="1350" dirty="0"/>
          </a:p>
        </p:txBody>
      </p:sp>
      <p:sp>
        <p:nvSpPr>
          <p:cNvPr id="13" name="Shape 10"/>
          <p:cNvSpPr/>
          <p:nvPr/>
        </p:nvSpPr>
        <p:spPr>
          <a:xfrm>
            <a:off x="640080" y="4169664"/>
            <a:ext cx="475488" cy="475488"/>
          </a:xfrm>
          <a:prstGeom prst="ellipse">
            <a:avLst/>
          </a:prstGeom>
          <a:solidFill>
            <a:srgbClr val="0D0B08"/>
          </a:solidFill>
          <a:ln w="15875">
            <a:solidFill>
              <a:srgbClr val="E8A84E"/>
            </a:solidFill>
            <a:prstDash val="solid"/>
          </a:ln>
        </p:spPr>
      </p:sp>
      <p:sp>
        <p:nvSpPr>
          <p:cNvPr id="14" name="Text 11"/>
          <p:cNvSpPr/>
          <p:nvPr/>
        </p:nvSpPr>
        <p:spPr>
          <a:xfrm>
            <a:off x="640080" y="4169664"/>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3</a:t>
            </a:r>
            <a:endParaRPr lang="en-US" sz="1200" dirty="0"/>
          </a:p>
        </p:txBody>
      </p:sp>
      <p:sp>
        <p:nvSpPr>
          <p:cNvPr id="15" name="Text 12"/>
          <p:cNvSpPr/>
          <p:nvPr/>
        </p:nvSpPr>
        <p:spPr>
          <a:xfrm>
            <a:off x="1353312" y="4078224"/>
            <a:ext cx="2834640" cy="329184"/>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Write-once</a:t>
            </a:r>
            <a:endParaRPr lang="en-US" sz="1450" dirty="0"/>
          </a:p>
        </p:txBody>
      </p:sp>
      <p:sp>
        <p:nvSpPr>
          <p:cNvPr id="16" name="Text 13"/>
          <p:cNvSpPr/>
          <p:nvPr/>
        </p:nvSpPr>
        <p:spPr>
          <a:xfrm>
            <a:off x="4297680" y="4078224"/>
            <a:ext cx="7253935" cy="713232"/>
          </a:xfrm>
          <a:prstGeom prst="rect">
            <a:avLst/>
          </a:prstGeom>
          <a:noFill/>
          <a:ln/>
        </p:spPr>
        <p:txBody>
          <a:bodyPr wrap="square" lIns="0" tIns="0" rIns="0" bIns="0" rtlCol="0" anchor="t"/>
          <a:lstStyle/>
          <a:p>
            <a:pPr indent="0" marL="0">
              <a:lnSpc>
                <a:spcPct val="112000"/>
              </a:lnSpc>
              <a:buNone/>
            </a:pPr>
            <a:r>
              <a:rPr lang="en-US" sz="1350" dirty="0">
                <a:solidFill>
                  <a:srgbClr val="958C80"/>
                </a:solidFill>
                <a:latin typeface="Calibri" pitchFamily="34" charset="0"/>
                <a:ea typeface="Calibri" pitchFamily="34" charset="-122"/>
                <a:cs typeface="Calibri" pitchFamily="34" charset="-120"/>
              </a:rPr>
              <a:t>No update or delete permission exists, so knowing a session ID does not let anyone alter someone’s answers</a:t>
            </a:r>
            <a:endParaRPr lang="en-US" sz="1350" dirty="0"/>
          </a:p>
        </p:txBody>
      </p:sp>
      <p:sp>
        <p:nvSpPr>
          <p:cNvPr id="17" name="Shape 14"/>
          <p:cNvSpPr/>
          <p:nvPr/>
        </p:nvSpPr>
        <p:spPr>
          <a:xfrm>
            <a:off x="640080" y="5157216"/>
            <a:ext cx="475488" cy="475488"/>
          </a:xfrm>
          <a:prstGeom prst="ellipse">
            <a:avLst/>
          </a:prstGeom>
          <a:solidFill>
            <a:srgbClr val="0D0B08"/>
          </a:solidFill>
          <a:ln w="15875">
            <a:solidFill>
              <a:srgbClr val="E8A84E"/>
            </a:solidFill>
            <a:prstDash val="solid"/>
          </a:ln>
        </p:spPr>
      </p:sp>
      <p:sp>
        <p:nvSpPr>
          <p:cNvPr id="18" name="Text 15"/>
          <p:cNvSpPr/>
          <p:nvPr/>
        </p:nvSpPr>
        <p:spPr>
          <a:xfrm>
            <a:off x="640080" y="5157216"/>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4</a:t>
            </a:r>
            <a:endParaRPr lang="en-US" sz="1200" dirty="0"/>
          </a:p>
        </p:txBody>
      </p:sp>
      <p:sp>
        <p:nvSpPr>
          <p:cNvPr id="19" name="Text 16"/>
          <p:cNvSpPr/>
          <p:nvPr/>
        </p:nvSpPr>
        <p:spPr>
          <a:xfrm>
            <a:off x="1353312" y="5065776"/>
            <a:ext cx="2834640" cy="329184"/>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Anonymous included</a:t>
            </a:r>
            <a:endParaRPr lang="en-US" sz="1450" dirty="0"/>
          </a:p>
        </p:txBody>
      </p:sp>
      <p:sp>
        <p:nvSpPr>
          <p:cNvPr id="20" name="Text 17"/>
          <p:cNvSpPr/>
          <p:nvPr/>
        </p:nvSpPr>
        <p:spPr>
          <a:xfrm>
            <a:off x="4297680" y="5065776"/>
            <a:ext cx="7253935" cy="713232"/>
          </a:xfrm>
          <a:prstGeom prst="rect">
            <a:avLst/>
          </a:prstGeom>
          <a:noFill/>
          <a:ln/>
        </p:spPr>
        <p:txBody>
          <a:bodyPr wrap="square" lIns="0" tIns="0" rIns="0" bIns="0" rtlCol="0" anchor="t"/>
          <a:lstStyle/>
          <a:p>
            <a:pPr indent="0" marL="0">
              <a:lnSpc>
                <a:spcPct val="112000"/>
              </a:lnSpc>
              <a:buNone/>
            </a:pPr>
            <a:r>
              <a:rPr lang="en-US" sz="1350" dirty="0">
                <a:solidFill>
                  <a:srgbClr val="958C80"/>
                </a:solidFill>
                <a:latin typeface="Calibri" pitchFamily="34" charset="0"/>
                <a:ea typeface="Calibri" pitchFamily="34" charset="-122"/>
                <a:cs typeface="Calibri" pitchFamily="34" charset="-120"/>
              </a:rPr>
              <a:t>No account is needed to contribute demographic data</a:t>
            </a:r>
            <a:endParaRPr lang="en-US" sz="1350" dirty="0"/>
          </a:p>
        </p:txBody>
      </p:sp>
      <p:sp>
        <p:nvSpPr>
          <p:cNvPr id="21" name="Shape 18"/>
          <p:cNvSpPr/>
          <p:nvPr/>
        </p:nvSpPr>
        <p:spPr>
          <a:xfrm>
            <a:off x="640080" y="6245352"/>
            <a:ext cx="10911535" cy="0"/>
          </a:xfrm>
          <a:prstGeom prst="line">
            <a:avLst/>
          </a:prstGeom>
          <a:noFill/>
          <a:ln w="12700">
            <a:solidFill>
              <a:srgbClr val="332C24"/>
            </a:solidFill>
            <a:prstDash val="solid"/>
          </a:ln>
        </p:spPr>
      </p:sp>
      <p:sp>
        <p:nvSpPr>
          <p:cNvPr id="22" name="Text 19"/>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DEMOGRAPHICS · DATA</a:t>
            </a:r>
            <a:endParaRPr lang="en-US" sz="900" dirty="0"/>
          </a:p>
        </p:txBody>
      </p:sp>
      <p:sp>
        <p:nvSpPr>
          <p:cNvPr id="23" name="Text 20"/>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R2 · DASHBOARD</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Eight numbers, </a:t>
            </a:r>
            <a:pPr indent="0" marL="0">
              <a:buNone/>
            </a:pPr>
            <a:r>
              <a:rPr lang="en-US" sz="3400" b="1" i="1" dirty="0">
                <a:solidFill>
                  <a:srgbClr val="C17F3A"/>
                </a:solidFill>
                <a:latin typeface="Arial" pitchFamily="34" charset="0"/>
                <a:ea typeface="Arial" pitchFamily="34" charset="-122"/>
                <a:cs typeface="Arial" pitchFamily="34" charset="-120"/>
              </a:rPr>
              <a:t>each defined.</a:t>
            </a:r>
            <a:endParaRPr lang="en-US" sz="3400" dirty="0"/>
          </a:p>
        </p:txBody>
      </p:sp>
      <p:sp>
        <p:nvSpPr>
          <p:cNvPr id="5" name="Shape 2"/>
          <p:cNvSpPr/>
          <p:nvPr/>
        </p:nvSpPr>
        <p:spPr>
          <a:xfrm>
            <a:off x="640080" y="2103120"/>
            <a:ext cx="2587752" cy="1755648"/>
          </a:xfrm>
          <a:prstGeom prst="roundRect">
            <a:avLst>
              <a:gd name="adj" fmla="val 4688"/>
            </a:avLst>
          </a:prstGeom>
          <a:solidFill>
            <a:srgbClr val="19160F"/>
          </a:solidFill>
          <a:ln w="12700">
            <a:solidFill>
              <a:srgbClr val="332C24"/>
            </a:solidFill>
            <a:prstDash val="solid"/>
          </a:ln>
        </p:spPr>
      </p:sp>
      <p:sp>
        <p:nvSpPr>
          <p:cNvPr id="6" name="Text 3"/>
          <p:cNvSpPr/>
          <p:nvPr/>
        </p:nvSpPr>
        <p:spPr>
          <a:xfrm>
            <a:off x="914400" y="2377440"/>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PARTICIPANTS</a:t>
            </a:r>
            <a:endParaRPr lang="en-US" sz="1000" dirty="0"/>
          </a:p>
        </p:txBody>
      </p:sp>
      <p:sp>
        <p:nvSpPr>
          <p:cNvPr id="7" name="Text 4"/>
          <p:cNvSpPr/>
          <p:nvPr/>
        </p:nvSpPr>
        <p:spPr>
          <a:xfrm>
            <a:off x="914400" y="2761488"/>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Everyone non-admin, registered or anonymous</a:t>
            </a:r>
            <a:endParaRPr lang="en-US" sz="1350" dirty="0"/>
          </a:p>
        </p:txBody>
      </p:sp>
      <p:sp>
        <p:nvSpPr>
          <p:cNvPr id="8" name="Shape 5"/>
          <p:cNvSpPr/>
          <p:nvPr/>
        </p:nvSpPr>
        <p:spPr>
          <a:xfrm>
            <a:off x="3410712" y="2103120"/>
            <a:ext cx="2587752" cy="1755648"/>
          </a:xfrm>
          <a:prstGeom prst="roundRect">
            <a:avLst>
              <a:gd name="adj" fmla="val 4688"/>
            </a:avLst>
          </a:prstGeom>
          <a:solidFill>
            <a:srgbClr val="19160F"/>
          </a:solidFill>
          <a:ln w="12700">
            <a:solidFill>
              <a:srgbClr val="332C24"/>
            </a:solidFill>
            <a:prstDash val="solid"/>
          </a:ln>
        </p:spPr>
      </p:sp>
      <p:sp>
        <p:nvSpPr>
          <p:cNvPr id="9" name="Text 6"/>
          <p:cNvSpPr/>
          <p:nvPr/>
        </p:nvSpPr>
        <p:spPr>
          <a:xfrm>
            <a:off x="3685032" y="2377440"/>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STARTED</a:t>
            </a:r>
            <a:endParaRPr lang="en-US" sz="1000" dirty="0"/>
          </a:p>
        </p:txBody>
      </p:sp>
      <p:sp>
        <p:nvSpPr>
          <p:cNvPr id="10" name="Text 7"/>
          <p:cNvSpPr/>
          <p:nvPr/>
        </p:nvSpPr>
        <p:spPr>
          <a:xfrm>
            <a:off x="3685032" y="2761488"/>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Has at least one session</a:t>
            </a:r>
            <a:endParaRPr lang="en-US" sz="1350" dirty="0"/>
          </a:p>
        </p:txBody>
      </p:sp>
      <p:sp>
        <p:nvSpPr>
          <p:cNvPr id="11" name="Shape 8"/>
          <p:cNvSpPr/>
          <p:nvPr/>
        </p:nvSpPr>
        <p:spPr>
          <a:xfrm>
            <a:off x="6181344" y="2103120"/>
            <a:ext cx="2587752" cy="1755648"/>
          </a:xfrm>
          <a:prstGeom prst="roundRect">
            <a:avLst>
              <a:gd name="adj" fmla="val 4688"/>
            </a:avLst>
          </a:prstGeom>
          <a:solidFill>
            <a:srgbClr val="19160F"/>
          </a:solidFill>
          <a:ln w="12700">
            <a:solidFill>
              <a:srgbClr val="332C24"/>
            </a:solidFill>
            <a:prstDash val="solid"/>
          </a:ln>
        </p:spPr>
      </p:sp>
      <p:sp>
        <p:nvSpPr>
          <p:cNvPr id="12" name="Text 9"/>
          <p:cNvSpPr/>
          <p:nvPr/>
        </p:nvSpPr>
        <p:spPr>
          <a:xfrm>
            <a:off x="6455664" y="2377440"/>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COMPLETED</a:t>
            </a:r>
            <a:endParaRPr lang="en-US" sz="1000" dirty="0"/>
          </a:p>
        </p:txBody>
      </p:sp>
      <p:sp>
        <p:nvSpPr>
          <p:cNvPr id="13" name="Text 10"/>
          <p:cNvSpPr/>
          <p:nvPr/>
        </p:nvSpPr>
        <p:spPr>
          <a:xfrm>
            <a:off x="6455664" y="2761488"/>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Has at least one finished session</a:t>
            </a:r>
            <a:endParaRPr lang="en-US" sz="1350" dirty="0"/>
          </a:p>
        </p:txBody>
      </p:sp>
      <p:sp>
        <p:nvSpPr>
          <p:cNvPr id="14" name="Shape 11"/>
          <p:cNvSpPr/>
          <p:nvPr/>
        </p:nvSpPr>
        <p:spPr>
          <a:xfrm>
            <a:off x="8951976" y="2103120"/>
            <a:ext cx="2587752" cy="1755648"/>
          </a:xfrm>
          <a:prstGeom prst="roundRect">
            <a:avLst>
              <a:gd name="adj" fmla="val 4688"/>
            </a:avLst>
          </a:prstGeom>
          <a:solidFill>
            <a:srgbClr val="19160F"/>
          </a:solidFill>
          <a:ln w="12700">
            <a:solidFill>
              <a:srgbClr val="332C24"/>
            </a:solidFill>
            <a:prstDash val="solid"/>
          </a:ln>
        </p:spPr>
      </p:sp>
      <p:sp>
        <p:nvSpPr>
          <p:cNvPr id="15" name="Text 12"/>
          <p:cNvSpPr/>
          <p:nvPr/>
        </p:nvSpPr>
        <p:spPr>
          <a:xfrm>
            <a:off x="9226296" y="2377440"/>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ACCOUNTS CREATED</a:t>
            </a:r>
            <a:endParaRPr lang="en-US" sz="1000" dirty="0"/>
          </a:p>
        </p:txBody>
      </p:sp>
      <p:sp>
        <p:nvSpPr>
          <p:cNvPr id="16" name="Text 13"/>
          <p:cNvSpPr/>
          <p:nvPr/>
        </p:nvSpPr>
        <p:spPr>
          <a:xfrm>
            <a:off x="9226296" y="2761488"/>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Registered, not anonymous</a:t>
            </a:r>
            <a:endParaRPr lang="en-US" sz="1350" dirty="0"/>
          </a:p>
        </p:txBody>
      </p:sp>
      <p:sp>
        <p:nvSpPr>
          <p:cNvPr id="17" name="Shape 14"/>
          <p:cNvSpPr/>
          <p:nvPr/>
        </p:nvSpPr>
        <p:spPr>
          <a:xfrm>
            <a:off x="640080" y="4041648"/>
            <a:ext cx="2587752" cy="1755648"/>
          </a:xfrm>
          <a:prstGeom prst="roundRect">
            <a:avLst>
              <a:gd name="adj" fmla="val 4688"/>
            </a:avLst>
          </a:prstGeom>
          <a:solidFill>
            <a:srgbClr val="19160F"/>
          </a:solidFill>
          <a:ln w="12700">
            <a:solidFill>
              <a:srgbClr val="332C24"/>
            </a:solidFill>
            <a:prstDash val="solid"/>
          </a:ln>
        </p:spPr>
      </p:sp>
      <p:sp>
        <p:nvSpPr>
          <p:cNvPr id="18" name="Text 15"/>
          <p:cNvSpPr/>
          <p:nvPr/>
        </p:nvSpPr>
        <p:spPr>
          <a:xfrm>
            <a:off x="914400" y="4315968"/>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COMPLETION RATE</a:t>
            </a:r>
            <a:endParaRPr lang="en-US" sz="1000" dirty="0"/>
          </a:p>
        </p:txBody>
      </p:sp>
      <p:sp>
        <p:nvSpPr>
          <p:cNvPr id="19" name="Text 16"/>
          <p:cNvSpPr/>
          <p:nvPr/>
        </p:nvSpPr>
        <p:spPr>
          <a:xfrm>
            <a:off x="914400" y="4700016"/>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Completed ÷ started</a:t>
            </a:r>
            <a:endParaRPr lang="en-US" sz="1350" dirty="0"/>
          </a:p>
        </p:txBody>
      </p:sp>
      <p:sp>
        <p:nvSpPr>
          <p:cNvPr id="20" name="Shape 17"/>
          <p:cNvSpPr/>
          <p:nvPr/>
        </p:nvSpPr>
        <p:spPr>
          <a:xfrm>
            <a:off x="3410712" y="4041648"/>
            <a:ext cx="2587752" cy="1755648"/>
          </a:xfrm>
          <a:prstGeom prst="roundRect">
            <a:avLst>
              <a:gd name="adj" fmla="val 4688"/>
            </a:avLst>
          </a:prstGeom>
          <a:solidFill>
            <a:srgbClr val="19160F"/>
          </a:solidFill>
          <a:ln w="12700">
            <a:solidFill>
              <a:srgbClr val="332C24"/>
            </a:solidFill>
            <a:prstDash val="solid"/>
          </a:ln>
        </p:spPr>
      </p:sp>
      <p:sp>
        <p:nvSpPr>
          <p:cNvPr id="21" name="Text 18"/>
          <p:cNvSpPr/>
          <p:nvPr/>
        </p:nvSpPr>
        <p:spPr>
          <a:xfrm>
            <a:off x="3685032" y="4315968"/>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IN PROGRESS</a:t>
            </a:r>
            <a:endParaRPr lang="en-US" sz="1000" dirty="0"/>
          </a:p>
        </p:txBody>
      </p:sp>
      <p:sp>
        <p:nvSpPr>
          <p:cNvPr id="22" name="Text 19"/>
          <p:cNvSpPr/>
          <p:nvPr/>
        </p:nvSpPr>
        <p:spPr>
          <a:xfrm>
            <a:off x="3685032" y="4700016"/>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Started, not finished</a:t>
            </a:r>
            <a:endParaRPr lang="en-US" sz="1350" dirty="0"/>
          </a:p>
        </p:txBody>
      </p:sp>
      <p:sp>
        <p:nvSpPr>
          <p:cNvPr id="23" name="Shape 20"/>
          <p:cNvSpPr/>
          <p:nvPr/>
        </p:nvSpPr>
        <p:spPr>
          <a:xfrm>
            <a:off x="6181344" y="4041648"/>
            <a:ext cx="2587752" cy="1755648"/>
          </a:xfrm>
          <a:prstGeom prst="roundRect">
            <a:avLst>
              <a:gd name="adj" fmla="val 4688"/>
            </a:avLst>
          </a:prstGeom>
          <a:solidFill>
            <a:srgbClr val="19160F"/>
          </a:solidFill>
          <a:ln w="12700">
            <a:solidFill>
              <a:srgbClr val="332C24"/>
            </a:solidFill>
            <a:prstDash val="solid"/>
          </a:ln>
        </p:spPr>
      </p:sp>
      <p:sp>
        <p:nvSpPr>
          <p:cNvPr id="24" name="Text 21"/>
          <p:cNvSpPr/>
          <p:nvPr/>
        </p:nvSpPr>
        <p:spPr>
          <a:xfrm>
            <a:off x="6455664" y="4315968"/>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AVERAGE SCORE</a:t>
            </a:r>
            <a:endParaRPr lang="en-US" sz="1000" dirty="0"/>
          </a:p>
        </p:txBody>
      </p:sp>
      <p:sp>
        <p:nvSpPr>
          <p:cNvPr id="25" name="Text 22"/>
          <p:cNvSpPr/>
          <p:nvPr/>
        </p:nvSpPr>
        <p:spPr>
          <a:xfrm>
            <a:off x="6455664" y="4700016"/>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Mean across completed</a:t>
            </a:r>
            <a:endParaRPr lang="en-US" sz="1350" dirty="0"/>
          </a:p>
        </p:txBody>
      </p:sp>
      <p:sp>
        <p:nvSpPr>
          <p:cNvPr id="26" name="Shape 23"/>
          <p:cNvSpPr/>
          <p:nvPr/>
        </p:nvSpPr>
        <p:spPr>
          <a:xfrm>
            <a:off x="8951976" y="4041648"/>
            <a:ext cx="2587752" cy="1755648"/>
          </a:xfrm>
          <a:prstGeom prst="roundRect">
            <a:avLst>
              <a:gd name="adj" fmla="val 4688"/>
            </a:avLst>
          </a:prstGeom>
          <a:solidFill>
            <a:srgbClr val="19160F"/>
          </a:solidFill>
          <a:ln w="12700">
            <a:solidFill>
              <a:srgbClr val="332C24"/>
            </a:solidFill>
            <a:prstDash val="solid"/>
          </a:ln>
        </p:spPr>
      </p:sp>
      <p:sp>
        <p:nvSpPr>
          <p:cNvPr id="27" name="Text 24"/>
          <p:cNvSpPr/>
          <p:nvPr/>
        </p:nvSpPr>
        <p:spPr>
          <a:xfrm>
            <a:off x="9226296" y="4315968"/>
            <a:ext cx="2039112" cy="310896"/>
          </a:xfrm>
          <a:prstGeom prst="rect">
            <a:avLst/>
          </a:prstGeom>
          <a:noFill/>
          <a:ln/>
        </p:spPr>
        <p:txBody>
          <a:bodyPr wrap="square" lIns="0" tIns="0" rIns="0" bIns="0" rtlCol="0" anchor="ctr"/>
          <a:lstStyle/>
          <a:p>
            <a:pPr indent="0" marL="0">
              <a:buNone/>
            </a:pPr>
            <a:r>
              <a:rPr lang="en-US" sz="1000" b="1" spc="160" kern="0" dirty="0">
                <a:solidFill>
                  <a:srgbClr val="E8A84E"/>
                </a:solidFill>
                <a:latin typeface="Arial" pitchFamily="34" charset="0"/>
                <a:ea typeface="Arial" pitchFamily="34" charset="-122"/>
                <a:cs typeface="Arial" pitchFamily="34" charset="-120"/>
              </a:rPr>
              <a:t>DEMOGRAPHICS</a:t>
            </a:r>
            <a:endParaRPr lang="en-US" sz="1000" dirty="0"/>
          </a:p>
        </p:txBody>
      </p:sp>
      <p:sp>
        <p:nvSpPr>
          <p:cNvPr id="28" name="Text 25"/>
          <p:cNvSpPr/>
          <p:nvPr/>
        </p:nvSpPr>
        <p:spPr>
          <a:xfrm>
            <a:off x="9226296" y="4700016"/>
            <a:ext cx="2039112" cy="914400"/>
          </a:xfrm>
          <a:prstGeom prst="rect">
            <a:avLst/>
          </a:prstGeom>
          <a:noFill/>
          <a:ln/>
        </p:spPr>
        <p:txBody>
          <a:bodyPr wrap="square" lIns="0" tIns="0" rIns="0" bIns="0" rtlCol="0" anchor="t"/>
          <a:lstStyle/>
          <a:p>
            <a:pPr indent="0" marL="0">
              <a:lnSpc>
                <a:spcPct val="114000"/>
              </a:lnSpc>
              <a:buNone/>
            </a:pPr>
            <a:r>
              <a:rPr lang="en-US" sz="1350" dirty="0">
                <a:solidFill>
                  <a:srgbClr val="958C80"/>
                </a:solidFill>
                <a:latin typeface="Calibri" pitchFamily="34" charset="0"/>
                <a:ea typeface="Calibri" pitchFamily="34" charset="-122"/>
                <a:cs typeface="Calibri" pitchFamily="34" charset="-120"/>
              </a:rPr>
              <a:t>Provided, declined, opt-in rate</a:t>
            </a:r>
            <a:endParaRPr lang="en-US" sz="1350" dirty="0"/>
          </a:p>
        </p:txBody>
      </p:sp>
      <p:sp>
        <p:nvSpPr>
          <p:cNvPr id="29" name="Shape 26"/>
          <p:cNvSpPr/>
          <p:nvPr/>
        </p:nvSpPr>
        <p:spPr>
          <a:xfrm>
            <a:off x="640080" y="6245352"/>
            <a:ext cx="10911535" cy="0"/>
          </a:xfrm>
          <a:prstGeom prst="line">
            <a:avLst/>
          </a:prstGeom>
          <a:noFill/>
          <a:ln w="12700">
            <a:solidFill>
              <a:srgbClr val="332C24"/>
            </a:solidFill>
            <a:prstDash val="solid"/>
          </a:ln>
        </p:spPr>
      </p:sp>
      <p:sp>
        <p:nvSpPr>
          <p:cNvPr id="30" name="Text 27"/>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DASHBOARD</a:t>
            </a:r>
            <a:endParaRPr lang="en-US" sz="900" dirty="0"/>
          </a:p>
        </p:txBody>
      </p:sp>
      <p:sp>
        <p:nvSpPr>
          <p:cNvPr id="31" name="Text 28"/>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R2 · DASHBOARD</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Categories and </a:t>
            </a:r>
            <a:pPr indent="0" marL="0">
              <a:buNone/>
            </a:pPr>
            <a:r>
              <a:rPr lang="en-US" sz="3400" b="1" i="1" dirty="0">
                <a:solidFill>
                  <a:srgbClr val="C17F3A"/>
                </a:solidFill>
                <a:latin typeface="Arial" pitchFamily="34" charset="0"/>
                <a:ea typeface="Arial" pitchFamily="34" charset="-122"/>
                <a:cs typeface="Arial" pitchFamily="34" charset="-120"/>
              </a:rPr>
              <a:t>demographics.</a:t>
            </a:r>
            <a:endParaRPr lang="en-US" sz="3400" dirty="0"/>
          </a:p>
        </p:txBody>
      </p:sp>
      <p:sp>
        <p:nvSpPr>
          <p:cNvPr id="5" name="Shape 2"/>
          <p:cNvSpPr/>
          <p:nvPr/>
        </p:nvSpPr>
        <p:spPr>
          <a:xfrm>
            <a:off x="640080" y="2103120"/>
            <a:ext cx="5364328" cy="3200400"/>
          </a:xfrm>
          <a:prstGeom prst="roundRect">
            <a:avLst>
              <a:gd name="adj" fmla="val 2571"/>
            </a:avLst>
          </a:prstGeom>
          <a:solidFill>
            <a:srgbClr val="19160F"/>
          </a:solidFill>
          <a:ln w="12700">
            <a:solidFill>
              <a:srgbClr val="332C24"/>
            </a:solidFill>
            <a:prstDash val="solid"/>
          </a:ln>
        </p:spPr>
      </p:sp>
      <p:sp>
        <p:nvSpPr>
          <p:cNvPr id="6" name="Text 3"/>
          <p:cNvSpPr/>
          <p:nvPr/>
        </p:nvSpPr>
        <p:spPr>
          <a:xfrm>
            <a:off x="1005840" y="2377440"/>
            <a:ext cx="4632808" cy="274320"/>
          </a:xfrm>
          <a:prstGeom prst="rect">
            <a:avLst/>
          </a:prstGeom>
          <a:noFill/>
          <a:ln/>
        </p:spPr>
        <p:txBody>
          <a:bodyPr wrap="square" lIns="0" tIns="0" rIns="0" bIns="0" rtlCol="0" anchor="ctr"/>
          <a:lstStyle/>
          <a:p>
            <a:pPr indent="0" marL="0">
              <a:buNone/>
            </a:pPr>
            <a:r>
              <a:rPr lang="en-US" sz="950" b="1" spc="200" kern="0" dirty="0">
                <a:solidFill>
                  <a:srgbClr val="958C80"/>
                </a:solidFill>
                <a:latin typeface="Arial" pitchFamily="34" charset="0"/>
                <a:ea typeface="Arial" pitchFamily="34" charset="-122"/>
                <a:cs typeface="Arial" pitchFamily="34" charset="-120"/>
              </a:rPr>
              <a:t>CATEGORY RESULTS</a:t>
            </a:r>
            <a:endParaRPr lang="en-US" sz="950" dirty="0"/>
          </a:p>
        </p:txBody>
      </p:sp>
      <p:sp>
        <p:nvSpPr>
          <p:cNvPr id="7" name="Text 4"/>
          <p:cNvSpPr/>
          <p:nvPr/>
        </p:nvSpPr>
        <p:spPr>
          <a:xfrm>
            <a:off x="1005840" y="2788920"/>
            <a:ext cx="4632808" cy="2194560"/>
          </a:xfrm>
          <a:prstGeom prst="rect">
            <a:avLst/>
          </a:prstGeom>
          <a:noFill/>
          <a:ln/>
        </p:spPr>
        <p:txBody>
          <a:bodyPr wrap="square" lIns="0" tIns="0" rIns="0" bIns="0" rtlCol="0" anchor="t"/>
          <a:lstStyle/>
          <a:p>
            <a:pPr indent="0" marL="0">
              <a:lnSpc>
                <a:spcPct val="120000"/>
              </a:lnSpc>
              <a:buNone/>
            </a:pPr>
            <a:r>
              <a:rPr lang="en-US" sz="1400" dirty="0">
                <a:solidFill>
                  <a:srgbClr val="958C80"/>
                </a:solidFill>
                <a:latin typeface="Calibri" pitchFamily="34" charset="0"/>
                <a:ea typeface="Calibri" pitchFamily="34" charset="-122"/>
                <a:cs typeface="Calibri" pitchFamily="34" charset="-120"/>
              </a:rPr>
              <a:t>The bar chart now sits above a table giving responses, mean, median, lowest and highest for each category.</a:t>
            </a:r>
            <a:endParaRPr lang="en-US" sz="1400" dirty="0"/>
          </a:p>
          <a:p>
            <a:pPr indent="0" marL="0">
              <a:lnSpc>
                <a:spcPct val="120000"/>
              </a:lnSpc>
              <a:buNone/>
            </a:pPr>
            <a:endParaRPr lang="en-US" sz="1400" dirty="0"/>
          </a:p>
          <a:p>
            <a:pPr indent="0" marL="0">
              <a:lnSpc>
                <a:spcPct val="120000"/>
              </a:lnSpc>
              <a:buNone/>
            </a:pPr>
            <a:r>
              <a:rPr lang="en-US" sz="1400" dirty="0">
                <a:solidFill>
                  <a:srgbClr val="958C80"/>
                </a:solidFill>
                <a:latin typeface="Calibri" pitchFamily="34" charset="0"/>
                <a:ea typeface="Calibri" pitchFamily="34" charset="-122"/>
                <a:cs typeface="Calibri" pitchFamily="34" charset="-120"/>
              </a:rPr>
              <a:t>Both read the same sessions, so the chart and the table can never disagree with each other.</a:t>
            </a:r>
            <a:endParaRPr lang="en-US" sz="1400" dirty="0"/>
          </a:p>
        </p:txBody>
      </p:sp>
      <p:sp>
        <p:nvSpPr>
          <p:cNvPr id="8" name="Shape 5"/>
          <p:cNvSpPr/>
          <p:nvPr/>
        </p:nvSpPr>
        <p:spPr>
          <a:xfrm>
            <a:off x="1005840" y="4526280"/>
            <a:ext cx="713232" cy="384048"/>
          </a:xfrm>
          <a:prstGeom prst="roundRect">
            <a:avLst>
              <a:gd name="adj" fmla="val 14286"/>
            </a:avLst>
          </a:prstGeom>
          <a:solidFill>
            <a:srgbClr val="19160F"/>
          </a:solidFill>
          <a:ln w="12700">
            <a:solidFill>
              <a:srgbClr val="BCD0EF"/>
            </a:solidFill>
            <a:prstDash val="solid"/>
          </a:ln>
        </p:spPr>
      </p:sp>
      <p:sp>
        <p:nvSpPr>
          <p:cNvPr id="9" name="Text 6"/>
          <p:cNvSpPr/>
          <p:nvPr/>
        </p:nvSpPr>
        <p:spPr>
          <a:xfrm>
            <a:off x="1005840" y="4526280"/>
            <a:ext cx="713232" cy="384048"/>
          </a:xfrm>
          <a:prstGeom prst="rect">
            <a:avLst/>
          </a:prstGeom>
          <a:noFill/>
          <a:ln/>
        </p:spPr>
        <p:txBody>
          <a:bodyPr wrap="square" lIns="0" tIns="0" rIns="0" bIns="0" rtlCol="0" anchor="ctr"/>
          <a:lstStyle/>
          <a:p>
            <a:pPr algn="ctr" indent="0" marL="0">
              <a:buNone/>
            </a:pPr>
            <a:r>
              <a:rPr lang="en-US" sz="1100" b="1" dirty="0">
                <a:solidFill>
                  <a:srgbClr val="BCD0EF"/>
                </a:solidFill>
                <a:latin typeface="Arial" pitchFamily="34" charset="0"/>
                <a:ea typeface="Arial" pitchFamily="34" charset="-122"/>
                <a:cs typeface="Arial" pitchFamily="34" charset="-120"/>
              </a:rPr>
              <a:t>TP</a:t>
            </a:r>
            <a:endParaRPr lang="en-US" sz="1100" dirty="0"/>
          </a:p>
        </p:txBody>
      </p:sp>
      <p:sp>
        <p:nvSpPr>
          <p:cNvPr id="10" name="Shape 7"/>
          <p:cNvSpPr/>
          <p:nvPr/>
        </p:nvSpPr>
        <p:spPr>
          <a:xfrm>
            <a:off x="1847088" y="4526280"/>
            <a:ext cx="713232" cy="384048"/>
          </a:xfrm>
          <a:prstGeom prst="roundRect">
            <a:avLst>
              <a:gd name="adj" fmla="val 14286"/>
            </a:avLst>
          </a:prstGeom>
          <a:solidFill>
            <a:srgbClr val="19160F"/>
          </a:solidFill>
          <a:ln w="12700">
            <a:solidFill>
              <a:srgbClr val="DCBDED"/>
            </a:solidFill>
            <a:prstDash val="solid"/>
          </a:ln>
        </p:spPr>
      </p:sp>
      <p:sp>
        <p:nvSpPr>
          <p:cNvPr id="11" name="Text 8"/>
          <p:cNvSpPr/>
          <p:nvPr/>
        </p:nvSpPr>
        <p:spPr>
          <a:xfrm>
            <a:off x="1847088" y="4526280"/>
            <a:ext cx="713232" cy="384048"/>
          </a:xfrm>
          <a:prstGeom prst="rect">
            <a:avLst/>
          </a:prstGeom>
          <a:noFill/>
          <a:ln/>
        </p:spPr>
        <p:txBody>
          <a:bodyPr wrap="square" lIns="0" tIns="0" rIns="0" bIns="0" rtlCol="0" anchor="ctr"/>
          <a:lstStyle/>
          <a:p>
            <a:pPr algn="ctr" indent="0" marL="0">
              <a:buNone/>
            </a:pPr>
            <a:r>
              <a:rPr lang="en-US" sz="1100" b="1" dirty="0">
                <a:solidFill>
                  <a:srgbClr val="DCBDED"/>
                </a:solidFill>
                <a:latin typeface="Arial" pitchFamily="34" charset="0"/>
                <a:ea typeface="Arial" pitchFamily="34" charset="-122"/>
                <a:cs typeface="Arial" pitchFamily="34" charset="-120"/>
              </a:rPr>
              <a:t>PD</a:t>
            </a:r>
            <a:endParaRPr lang="en-US" sz="1100" dirty="0"/>
          </a:p>
        </p:txBody>
      </p:sp>
      <p:sp>
        <p:nvSpPr>
          <p:cNvPr id="12" name="Shape 9"/>
          <p:cNvSpPr/>
          <p:nvPr/>
        </p:nvSpPr>
        <p:spPr>
          <a:xfrm>
            <a:off x="2688336" y="4526280"/>
            <a:ext cx="713232" cy="384048"/>
          </a:xfrm>
          <a:prstGeom prst="roundRect">
            <a:avLst>
              <a:gd name="adj" fmla="val 14286"/>
            </a:avLst>
          </a:prstGeom>
          <a:solidFill>
            <a:srgbClr val="19160F"/>
          </a:solidFill>
          <a:ln w="12700">
            <a:solidFill>
              <a:srgbClr val="B6DCC4"/>
            </a:solidFill>
            <a:prstDash val="solid"/>
          </a:ln>
        </p:spPr>
      </p:sp>
      <p:sp>
        <p:nvSpPr>
          <p:cNvPr id="13" name="Text 10"/>
          <p:cNvSpPr/>
          <p:nvPr/>
        </p:nvSpPr>
        <p:spPr>
          <a:xfrm>
            <a:off x="2688336" y="4526280"/>
            <a:ext cx="713232" cy="384048"/>
          </a:xfrm>
          <a:prstGeom prst="rect">
            <a:avLst/>
          </a:prstGeom>
          <a:noFill/>
          <a:ln/>
        </p:spPr>
        <p:txBody>
          <a:bodyPr wrap="square" lIns="0" tIns="0" rIns="0" bIns="0" rtlCol="0" anchor="ctr"/>
          <a:lstStyle/>
          <a:p>
            <a:pPr algn="ctr" indent="0" marL="0">
              <a:buNone/>
            </a:pPr>
            <a:r>
              <a:rPr lang="en-US" sz="1100" b="1" dirty="0">
                <a:solidFill>
                  <a:srgbClr val="B6DCC4"/>
                </a:solidFill>
                <a:latin typeface="Arial" pitchFamily="34" charset="0"/>
                <a:ea typeface="Arial" pitchFamily="34" charset="-122"/>
                <a:cs typeface="Arial" pitchFamily="34" charset="-120"/>
              </a:rPr>
              <a:t>TA</a:t>
            </a:r>
            <a:endParaRPr lang="en-US" sz="1100" dirty="0"/>
          </a:p>
        </p:txBody>
      </p:sp>
      <p:sp>
        <p:nvSpPr>
          <p:cNvPr id="14" name="Shape 11"/>
          <p:cNvSpPr/>
          <p:nvPr/>
        </p:nvSpPr>
        <p:spPr>
          <a:xfrm>
            <a:off x="3529584" y="4526280"/>
            <a:ext cx="713232" cy="384048"/>
          </a:xfrm>
          <a:prstGeom prst="roundRect">
            <a:avLst>
              <a:gd name="adj" fmla="val 14286"/>
            </a:avLst>
          </a:prstGeom>
          <a:solidFill>
            <a:srgbClr val="19160F"/>
          </a:solidFill>
          <a:ln w="12700">
            <a:solidFill>
              <a:srgbClr val="E8A84E"/>
            </a:solidFill>
            <a:prstDash val="solid"/>
          </a:ln>
        </p:spPr>
      </p:sp>
      <p:sp>
        <p:nvSpPr>
          <p:cNvPr id="15" name="Text 12"/>
          <p:cNvSpPr/>
          <p:nvPr/>
        </p:nvSpPr>
        <p:spPr>
          <a:xfrm>
            <a:off x="3529584" y="4526280"/>
            <a:ext cx="713232" cy="384048"/>
          </a:xfrm>
          <a:prstGeom prst="rect">
            <a:avLst/>
          </a:prstGeom>
          <a:noFill/>
          <a:ln/>
        </p:spPr>
        <p:txBody>
          <a:bodyPr wrap="square" lIns="0" tIns="0" rIns="0" bIns="0" rtlCol="0" anchor="ctr"/>
          <a:lstStyle/>
          <a:p>
            <a:pPr algn="ctr" indent="0" marL="0">
              <a:buNone/>
            </a:pPr>
            <a:r>
              <a:rPr lang="en-US" sz="1100" b="1" dirty="0">
                <a:solidFill>
                  <a:srgbClr val="E8A84E"/>
                </a:solidFill>
                <a:latin typeface="Arial" pitchFamily="34" charset="0"/>
                <a:ea typeface="Arial" pitchFamily="34" charset="-122"/>
                <a:cs typeface="Arial" pitchFamily="34" charset="-120"/>
              </a:rPr>
              <a:t>TPP</a:t>
            </a:r>
            <a:endParaRPr lang="en-US" sz="1100" dirty="0"/>
          </a:p>
        </p:txBody>
      </p:sp>
      <p:sp>
        <p:nvSpPr>
          <p:cNvPr id="16" name="Shape 13"/>
          <p:cNvSpPr/>
          <p:nvPr/>
        </p:nvSpPr>
        <p:spPr>
          <a:xfrm>
            <a:off x="6187288" y="2103120"/>
            <a:ext cx="5364328" cy="3200400"/>
          </a:xfrm>
          <a:prstGeom prst="roundRect">
            <a:avLst>
              <a:gd name="adj" fmla="val 2571"/>
            </a:avLst>
          </a:prstGeom>
          <a:solidFill>
            <a:srgbClr val="19160F"/>
          </a:solidFill>
          <a:ln w="12700">
            <a:solidFill>
              <a:srgbClr val="332C24"/>
            </a:solidFill>
            <a:prstDash val="solid"/>
          </a:ln>
        </p:spPr>
      </p:sp>
      <p:sp>
        <p:nvSpPr>
          <p:cNvPr id="17" name="Text 14"/>
          <p:cNvSpPr/>
          <p:nvPr/>
        </p:nvSpPr>
        <p:spPr>
          <a:xfrm>
            <a:off x="6553048" y="2377440"/>
            <a:ext cx="4632808" cy="274320"/>
          </a:xfrm>
          <a:prstGeom prst="rect">
            <a:avLst/>
          </a:prstGeom>
          <a:noFill/>
          <a:ln/>
        </p:spPr>
        <p:txBody>
          <a:bodyPr wrap="square" lIns="0" tIns="0" rIns="0" bIns="0" rtlCol="0" anchor="ctr"/>
          <a:lstStyle/>
          <a:p>
            <a:pPr indent="0" marL="0">
              <a:buNone/>
            </a:pPr>
            <a:r>
              <a:rPr lang="en-US" sz="950" b="1" spc="200" kern="0" dirty="0">
                <a:solidFill>
                  <a:srgbClr val="958C80"/>
                </a:solidFill>
                <a:latin typeface="Arial" pitchFamily="34" charset="0"/>
                <a:ea typeface="Arial" pitchFamily="34" charset="-122"/>
                <a:cs typeface="Arial" pitchFamily="34" charset="-120"/>
              </a:rPr>
              <a:t>DEMOGRAPHIC SUMMARY</a:t>
            </a:r>
            <a:endParaRPr lang="en-US" sz="950" dirty="0"/>
          </a:p>
        </p:txBody>
      </p:sp>
      <p:sp>
        <p:nvSpPr>
          <p:cNvPr id="18" name="Text 15"/>
          <p:cNvSpPr/>
          <p:nvPr/>
        </p:nvSpPr>
        <p:spPr>
          <a:xfrm>
            <a:off x="6553048" y="2880360"/>
            <a:ext cx="1554480" cy="274320"/>
          </a:xfrm>
          <a:prstGeom prst="rect">
            <a:avLst/>
          </a:prstGeom>
          <a:noFill/>
          <a:ln/>
        </p:spPr>
        <p:txBody>
          <a:bodyPr wrap="square" lIns="0" tIns="0" rIns="0" bIns="0" rtlCol="0" anchor="ctr"/>
          <a:lstStyle/>
          <a:p>
            <a:pPr indent="0" marL="0">
              <a:buNone/>
            </a:pPr>
            <a:r>
              <a:rPr lang="en-US" sz="1250" dirty="0">
                <a:solidFill>
                  <a:srgbClr val="F5F0E8"/>
                </a:solidFill>
                <a:latin typeface="Calibri" pitchFamily="34" charset="0"/>
                <a:ea typeface="Calibri" pitchFamily="34" charset="-122"/>
                <a:cs typeface="Calibri" pitchFamily="34" charset="-120"/>
              </a:rPr>
              <a:t>Age group</a:t>
            </a:r>
            <a:endParaRPr lang="en-US" sz="1250" dirty="0"/>
          </a:p>
        </p:txBody>
      </p:sp>
      <p:sp>
        <p:nvSpPr>
          <p:cNvPr id="19" name="Shape 16"/>
          <p:cNvSpPr/>
          <p:nvPr/>
        </p:nvSpPr>
        <p:spPr>
          <a:xfrm>
            <a:off x="8198968" y="2935224"/>
            <a:ext cx="2986888" cy="182880"/>
          </a:xfrm>
          <a:prstGeom prst="roundRect">
            <a:avLst>
              <a:gd name="adj" fmla="val 50000"/>
            </a:avLst>
          </a:prstGeom>
          <a:solidFill>
            <a:srgbClr val="241F19"/>
          </a:solidFill>
          <a:ln w="6350">
            <a:solidFill>
              <a:srgbClr val="332C24"/>
            </a:solidFill>
            <a:prstDash val="solid"/>
          </a:ln>
        </p:spPr>
      </p:sp>
      <p:sp>
        <p:nvSpPr>
          <p:cNvPr id="20" name="Shape 17"/>
          <p:cNvSpPr/>
          <p:nvPr/>
        </p:nvSpPr>
        <p:spPr>
          <a:xfrm>
            <a:off x="8198968" y="2935224"/>
            <a:ext cx="2568723" cy="182880"/>
          </a:xfrm>
          <a:prstGeom prst="roundRect">
            <a:avLst>
              <a:gd name="adj" fmla="val 50000"/>
            </a:avLst>
          </a:prstGeom>
          <a:solidFill>
            <a:srgbClr val="C17F3A"/>
          </a:solidFill>
          <a:ln w="6350">
            <a:solidFill>
              <a:srgbClr val="E8A84E"/>
            </a:solidFill>
            <a:prstDash val="solid"/>
          </a:ln>
        </p:spPr>
      </p:sp>
      <p:sp>
        <p:nvSpPr>
          <p:cNvPr id="21" name="Text 18"/>
          <p:cNvSpPr/>
          <p:nvPr/>
        </p:nvSpPr>
        <p:spPr>
          <a:xfrm>
            <a:off x="6553048" y="3538728"/>
            <a:ext cx="1554480" cy="274320"/>
          </a:xfrm>
          <a:prstGeom prst="rect">
            <a:avLst/>
          </a:prstGeom>
          <a:noFill/>
          <a:ln/>
        </p:spPr>
        <p:txBody>
          <a:bodyPr wrap="square" lIns="0" tIns="0" rIns="0" bIns="0" rtlCol="0" anchor="ctr"/>
          <a:lstStyle/>
          <a:p>
            <a:pPr indent="0" marL="0">
              <a:buNone/>
            </a:pPr>
            <a:r>
              <a:rPr lang="en-US" sz="1250" dirty="0">
                <a:solidFill>
                  <a:srgbClr val="F5F0E8"/>
                </a:solidFill>
                <a:latin typeface="Calibri" pitchFamily="34" charset="0"/>
                <a:ea typeface="Calibri" pitchFamily="34" charset="-122"/>
                <a:cs typeface="Calibri" pitchFamily="34" charset="-120"/>
              </a:rPr>
              <a:t>Gender</a:t>
            </a:r>
            <a:endParaRPr lang="en-US" sz="1250" dirty="0"/>
          </a:p>
        </p:txBody>
      </p:sp>
      <p:sp>
        <p:nvSpPr>
          <p:cNvPr id="22" name="Shape 19"/>
          <p:cNvSpPr/>
          <p:nvPr/>
        </p:nvSpPr>
        <p:spPr>
          <a:xfrm>
            <a:off x="8198968" y="3593592"/>
            <a:ext cx="2986888" cy="182880"/>
          </a:xfrm>
          <a:prstGeom prst="roundRect">
            <a:avLst>
              <a:gd name="adj" fmla="val 50000"/>
            </a:avLst>
          </a:prstGeom>
          <a:solidFill>
            <a:srgbClr val="241F19"/>
          </a:solidFill>
          <a:ln w="6350">
            <a:solidFill>
              <a:srgbClr val="332C24"/>
            </a:solidFill>
            <a:prstDash val="solid"/>
          </a:ln>
        </p:spPr>
      </p:sp>
      <p:sp>
        <p:nvSpPr>
          <p:cNvPr id="23" name="Shape 20"/>
          <p:cNvSpPr/>
          <p:nvPr/>
        </p:nvSpPr>
        <p:spPr>
          <a:xfrm>
            <a:off x="8198968" y="3593592"/>
            <a:ext cx="1851870" cy="182880"/>
          </a:xfrm>
          <a:prstGeom prst="roundRect">
            <a:avLst>
              <a:gd name="adj" fmla="val 50000"/>
            </a:avLst>
          </a:prstGeom>
          <a:solidFill>
            <a:srgbClr val="C17F3A"/>
          </a:solidFill>
          <a:ln w="6350">
            <a:solidFill>
              <a:srgbClr val="E8A84E"/>
            </a:solidFill>
            <a:prstDash val="solid"/>
          </a:ln>
        </p:spPr>
      </p:sp>
      <p:sp>
        <p:nvSpPr>
          <p:cNvPr id="24" name="Text 21"/>
          <p:cNvSpPr/>
          <p:nvPr/>
        </p:nvSpPr>
        <p:spPr>
          <a:xfrm>
            <a:off x="6553048" y="4197096"/>
            <a:ext cx="1554480" cy="274320"/>
          </a:xfrm>
          <a:prstGeom prst="rect">
            <a:avLst/>
          </a:prstGeom>
          <a:noFill/>
          <a:ln/>
        </p:spPr>
        <p:txBody>
          <a:bodyPr wrap="square" lIns="0" tIns="0" rIns="0" bIns="0" rtlCol="0" anchor="ctr"/>
          <a:lstStyle/>
          <a:p>
            <a:pPr indent="0" marL="0">
              <a:buNone/>
            </a:pPr>
            <a:r>
              <a:rPr lang="en-US" sz="1250" dirty="0">
                <a:solidFill>
                  <a:srgbClr val="F5F0E8"/>
                </a:solidFill>
                <a:latin typeface="Calibri" pitchFamily="34" charset="0"/>
                <a:ea typeface="Calibri" pitchFamily="34" charset="-122"/>
                <a:cs typeface="Calibri" pitchFamily="34" charset="-120"/>
              </a:rPr>
              <a:t>Academic level</a:t>
            </a:r>
            <a:endParaRPr lang="en-US" sz="1250" dirty="0"/>
          </a:p>
        </p:txBody>
      </p:sp>
      <p:sp>
        <p:nvSpPr>
          <p:cNvPr id="25" name="Shape 22"/>
          <p:cNvSpPr/>
          <p:nvPr/>
        </p:nvSpPr>
        <p:spPr>
          <a:xfrm>
            <a:off x="8198968" y="4251960"/>
            <a:ext cx="2986888" cy="182880"/>
          </a:xfrm>
          <a:prstGeom prst="roundRect">
            <a:avLst>
              <a:gd name="adj" fmla="val 50000"/>
            </a:avLst>
          </a:prstGeom>
          <a:solidFill>
            <a:srgbClr val="241F19"/>
          </a:solidFill>
          <a:ln w="6350">
            <a:solidFill>
              <a:srgbClr val="332C24"/>
            </a:solidFill>
            <a:prstDash val="solid"/>
          </a:ln>
        </p:spPr>
      </p:sp>
      <p:sp>
        <p:nvSpPr>
          <p:cNvPr id="26" name="Shape 23"/>
          <p:cNvSpPr/>
          <p:nvPr/>
        </p:nvSpPr>
        <p:spPr>
          <a:xfrm>
            <a:off x="8198968" y="4251960"/>
            <a:ext cx="2927150" cy="182880"/>
          </a:xfrm>
          <a:prstGeom prst="roundRect">
            <a:avLst>
              <a:gd name="adj" fmla="val 50000"/>
            </a:avLst>
          </a:prstGeom>
          <a:solidFill>
            <a:srgbClr val="C17F3A"/>
          </a:solidFill>
          <a:ln w="6350">
            <a:solidFill>
              <a:srgbClr val="E8A84E"/>
            </a:solidFill>
            <a:prstDash val="solid"/>
          </a:ln>
        </p:spPr>
      </p:sp>
      <p:sp>
        <p:nvSpPr>
          <p:cNvPr id="27" name="Text 24"/>
          <p:cNvSpPr/>
          <p:nvPr/>
        </p:nvSpPr>
        <p:spPr>
          <a:xfrm>
            <a:off x="6553048" y="4709160"/>
            <a:ext cx="4632808" cy="502920"/>
          </a:xfrm>
          <a:prstGeom prst="rect">
            <a:avLst/>
          </a:prstGeom>
          <a:noFill/>
          <a:ln/>
        </p:spPr>
        <p:txBody>
          <a:bodyPr wrap="square" lIns="0" tIns="0" rIns="0" bIns="0" rtlCol="0" anchor="t"/>
          <a:lstStyle/>
          <a:p>
            <a:pPr indent="0" marL="0">
              <a:lnSpc>
                <a:spcPct val="112000"/>
              </a:lnSpc>
              <a:buNone/>
            </a:pPr>
            <a:r>
              <a:rPr lang="en-US" sz="1250" dirty="0">
                <a:solidFill>
                  <a:srgbClr val="958C80"/>
                </a:solidFill>
                <a:latin typeface="Calibri" pitchFamily="34" charset="0"/>
                <a:ea typeface="Calibri" pitchFamily="34" charset="-122"/>
                <a:cs typeface="Calibri" pitchFamily="34" charset="-120"/>
              </a:rPr>
              <a:t>Empty categories are dropped, so small samples stay readable. Four demographic columns added to the CSV export.</a:t>
            </a:r>
            <a:endParaRPr lang="en-US" sz="1250" dirty="0"/>
          </a:p>
        </p:txBody>
      </p:sp>
      <p:sp>
        <p:nvSpPr>
          <p:cNvPr id="28" name="Shape 25"/>
          <p:cNvSpPr/>
          <p:nvPr/>
        </p:nvSpPr>
        <p:spPr>
          <a:xfrm>
            <a:off x="640080" y="6245352"/>
            <a:ext cx="10911535" cy="0"/>
          </a:xfrm>
          <a:prstGeom prst="line">
            <a:avLst/>
          </a:prstGeom>
          <a:noFill/>
          <a:ln w="12700">
            <a:solidFill>
              <a:srgbClr val="332C24"/>
            </a:solidFill>
            <a:prstDash val="solid"/>
          </a:ln>
        </p:spPr>
      </p:sp>
      <p:sp>
        <p:nvSpPr>
          <p:cNvPr id="29" name="Text 26"/>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DASHBOARD · ANALYSIS</a:t>
            </a:r>
            <a:endParaRPr lang="en-US" sz="900" dirty="0"/>
          </a:p>
        </p:txBody>
      </p:sp>
      <p:sp>
        <p:nvSpPr>
          <p:cNvPr id="30" name="Text 27"/>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B08"/>
        </a:solidFill>
      </p:bgPr>
    </p:bg>
    <p:spTree>
      <p:nvGrpSpPr>
        <p:cNvPr id="1" name=""/>
        <p:cNvGrpSpPr/>
        <p:nvPr/>
      </p:nvGrpSpPr>
      <p:grpSpPr>
        <a:xfrm>
          <a:off x="0" y="0"/>
          <a:ext cx="0" cy="0"/>
          <a:chOff x="0" y="0"/>
          <a:chExt cx="0" cy="0"/>
        </a:xfrm>
      </p:grpSpPr>
      <p:sp>
        <p:nvSpPr>
          <p:cNvPr id="3" name="Shape 0"/>
          <p:cNvSpPr/>
          <p:nvPr/>
        </p:nvSpPr>
        <p:spPr>
          <a:xfrm>
            <a:off x="5532120" y="1783080"/>
            <a:ext cx="1417320" cy="1417320"/>
          </a:xfrm>
          <a:prstGeom prst="ellipse">
            <a:avLst/>
          </a:prstGeom>
          <a:solidFill>
            <a:srgbClr val="0D0B08"/>
          </a:solidFill>
          <a:ln w="25400">
            <a:solidFill>
              <a:srgbClr val="C17F3A"/>
            </a:solidFill>
            <a:prstDash val="solid"/>
          </a:ln>
        </p:spPr>
      </p:sp>
      <p:sp>
        <p:nvSpPr>
          <p:cNvPr id="4" name="Text 1"/>
          <p:cNvSpPr/>
          <p:nvPr/>
        </p:nvSpPr>
        <p:spPr>
          <a:xfrm>
            <a:off x="5532120" y="1783080"/>
            <a:ext cx="1417320" cy="1417320"/>
          </a:xfrm>
          <a:prstGeom prst="rect">
            <a:avLst/>
          </a:prstGeom>
          <a:noFill/>
          <a:ln/>
        </p:spPr>
        <p:txBody>
          <a:bodyPr wrap="square" lIns="0" tIns="0" rIns="0" bIns="0" rtlCol="0" anchor="ctr"/>
          <a:lstStyle/>
          <a:p>
            <a:pPr algn="ctr" indent="0" marL="0">
              <a:buNone/>
            </a:pPr>
            <a:r>
              <a:rPr lang="en-US" sz="3000" dirty="0">
                <a:solidFill>
                  <a:srgbClr val="E8A84E"/>
                </a:solidFill>
                <a:latin typeface="Arial" pitchFamily="34" charset="0"/>
                <a:ea typeface="Arial" pitchFamily="34" charset="-122"/>
                <a:cs typeface="Arial" pitchFamily="34" charset="-120"/>
              </a:rPr>
              <a:t>▶</a:t>
            </a:r>
            <a:endParaRPr lang="en-US" sz="3000" dirty="0"/>
          </a:p>
        </p:txBody>
      </p:sp>
      <p:sp>
        <p:nvSpPr>
          <p:cNvPr id="5" name="Text 2"/>
          <p:cNvSpPr/>
          <p:nvPr/>
        </p:nvSpPr>
        <p:spPr>
          <a:xfrm>
            <a:off x="640080" y="3520440"/>
            <a:ext cx="10911535" cy="822960"/>
          </a:xfrm>
          <a:prstGeom prst="rect">
            <a:avLst/>
          </a:prstGeom>
          <a:noFill/>
          <a:ln/>
        </p:spPr>
        <p:txBody>
          <a:bodyPr wrap="square" lIns="0" tIns="0" rIns="0" bIns="0" rtlCol="0" anchor="ctr"/>
          <a:lstStyle/>
          <a:p>
            <a:pPr algn="ctr" indent="0" marL="0">
              <a:buNone/>
            </a:pPr>
            <a:r>
              <a:rPr lang="en-US" sz="3800" b="1" dirty="0">
                <a:solidFill>
                  <a:srgbClr val="F5F0E8"/>
                </a:solidFill>
                <a:latin typeface="Arial" pitchFamily="34" charset="0"/>
                <a:ea typeface="Arial" pitchFamily="34" charset="-122"/>
                <a:cs typeface="Arial" pitchFamily="34" charset="-120"/>
              </a:rPr>
              <a:t>Live demo </a:t>
            </a:r>
            <a:pPr algn="ctr" indent="0" marL="0">
              <a:buNone/>
            </a:pPr>
            <a:r>
              <a:rPr lang="en-US" sz="3800" b="1" i="1" dirty="0">
                <a:solidFill>
                  <a:srgbClr val="C17F3A"/>
                </a:solidFill>
                <a:latin typeface="Arial" pitchFamily="34" charset="0"/>
                <a:ea typeface="Arial" pitchFamily="34" charset="-122"/>
                <a:cs typeface="Arial" pitchFamily="34" charset="-120"/>
              </a:rPr>
              <a:t>two.</a:t>
            </a:r>
            <a:endParaRPr lang="en-US" sz="3800" dirty="0"/>
          </a:p>
        </p:txBody>
      </p:sp>
      <p:sp>
        <p:nvSpPr>
          <p:cNvPr id="6" name="Text 3"/>
          <p:cNvSpPr/>
          <p:nvPr/>
        </p:nvSpPr>
        <p:spPr>
          <a:xfrm>
            <a:off x="1463040" y="4389120"/>
            <a:ext cx="9262872" cy="548640"/>
          </a:xfrm>
          <a:prstGeom prst="rect">
            <a:avLst/>
          </a:prstGeom>
          <a:noFill/>
          <a:ln/>
        </p:spPr>
        <p:txBody>
          <a:bodyPr wrap="square" lIns="0" tIns="0" rIns="0" bIns="0" rtlCol="0" anchor="ctr"/>
          <a:lstStyle/>
          <a:p>
            <a:pPr algn="ctr" indent="0" marL="0">
              <a:buNone/>
            </a:pPr>
            <a:r>
              <a:rPr lang="en-US" sz="1400" dirty="0">
                <a:solidFill>
                  <a:srgbClr val="958C80"/>
                </a:solidFill>
                <a:latin typeface="Calibri" pitchFamily="34" charset="0"/>
                <a:ea typeface="Calibri" pitchFamily="34" charset="-122"/>
                <a:cs typeface="Calibri" pitchFamily="34" charset="-120"/>
              </a:rPr>
              <a:t>The demographics page  ·  then the admin dashboard, statistics, category summary and demographic charts</a:t>
            </a:r>
            <a:endParaRPr lang="en-US" sz="1400" dirty="0"/>
          </a:p>
        </p:txBody>
      </p:sp>
      <p:sp>
        <p:nvSpPr>
          <p:cNvPr id="7" name="Shape 4"/>
          <p:cNvSpPr/>
          <p:nvPr/>
        </p:nvSpPr>
        <p:spPr>
          <a:xfrm>
            <a:off x="640080" y="6245352"/>
            <a:ext cx="10911535" cy="0"/>
          </a:xfrm>
          <a:prstGeom prst="line">
            <a:avLst/>
          </a:prstGeom>
          <a:noFill/>
          <a:ln w="12700">
            <a:solidFill>
              <a:srgbClr val="332C24"/>
            </a:solidFill>
            <a:prstDash val="solid"/>
          </a:ln>
        </p:spPr>
      </p:sp>
      <p:sp>
        <p:nvSpPr>
          <p:cNvPr id="8" name="Text 5"/>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DEMO</a:t>
            </a:r>
            <a:endParaRPr lang="en-US" sz="900" dirty="0"/>
          </a:p>
        </p:txBody>
      </p:sp>
      <p:sp>
        <p:nvSpPr>
          <p:cNvPr id="9" name="Text 6"/>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QUALITY ASSURANCE</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Four defects found </a:t>
            </a:r>
            <a:pPr indent="0" marL="0">
              <a:buNone/>
            </a:pPr>
            <a:r>
              <a:rPr lang="en-US" sz="3400" b="1" i="1" dirty="0">
                <a:solidFill>
                  <a:srgbClr val="C17F3A"/>
                </a:solidFill>
                <a:latin typeface="Arial" pitchFamily="34" charset="0"/>
                <a:ea typeface="Arial" pitchFamily="34" charset="-122"/>
                <a:cs typeface="Arial" pitchFamily="34" charset="-120"/>
              </a:rPr>
              <a:t>before testing.</a:t>
            </a:r>
            <a:endParaRPr lang="en-US" sz="3400" dirty="0"/>
          </a:p>
        </p:txBody>
      </p:sp>
      <p:sp>
        <p:nvSpPr>
          <p:cNvPr id="5" name="Shape 2"/>
          <p:cNvSpPr/>
          <p:nvPr/>
        </p:nvSpPr>
        <p:spPr>
          <a:xfrm>
            <a:off x="640080" y="2176272"/>
            <a:ext cx="475488" cy="475488"/>
          </a:xfrm>
          <a:prstGeom prst="ellipse">
            <a:avLst/>
          </a:prstGeom>
          <a:solidFill>
            <a:srgbClr val="0D0B08"/>
          </a:solidFill>
          <a:ln w="15875">
            <a:solidFill>
              <a:srgbClr val="E8A84E"/>
            </a:solidFill>
            <a:prstDash val="solid"/>
          </a:ln>
        </p:spPr>
      </p:sp>
      <p:sp>
        <p:nvSpPr>
          <p:cNvPr id="6" name="Text 3"/>
          <p:cNvSpPr/>
          <p:nvPr/>
        </p:nvSpPr>
        <p:spPr>
          <a:xfrm>
            <a:off x="640080" y="2176272"/>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1</a:t>
            </a:r>
            <a:endParaRPr lang="en-US" sz="1200" dirty="0"/>
          </a:p>
        </p:txBody>
      </p:sp>
      <p:sp>
        <p:nvSpPr>
          <p:cNvPr id="7" name="Text 4"/>
          <p:cNvSpPr/>
          <p:nvPr/>
        </p:nvSpPr>
        <p:spPr>
          <a:xfrm>
            <a:off x="1353312" y="2103120"/>
            <a:ext cx="39319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Save failures reported as successes</a:t>
            </a:r>
            <a:endParaRPr lang="en-US" sz="1400" dirty="0"/>
          </a:p>
        </p:txBody>
      </p:sp>
      <p:sp>
        <p:nvSpPr>
          <p:cNvPr id="8" name="Text 5"/>
          <p:cNvSpPr/>
          <p:nvPr/>
        </p:nvSpPr>
        <p:spPr>
          <a:xfrm>
            <a:off x="5394960" y="2103120"/>
            <a:ext cx="6156655" cy="731520"/>
          </a:xfrm>
          <a:prstGeom prst="rect">
            <a:avLst/>
          </a:prstGeom>
          <a:noFill/>
          <a:ln/>
        </p:spPr>
        <p:txBody>
          <a:bodyPr wrap="square" lIns="0" tIns="0" rIns="0" bIns="0" rtlCol="0" anchor="t"/>
          <a:lstStyle/>
          <a:p>
            <a:pPr indent="0" marL="0">
              <a:lnSpc>
                <a:spcPct val="112000"/>
              </a:lnSpc>
              <a:buNone/>
            </a:pPr>
            <a:r>
              <a:rPr lang="en-US" sz="1300" dirty="0">
                <a:solidFill>
                  <a:srgbClr val="958C80"/>
                </a:solidFill>
                <a:latin typeface="Calibri" pitchFamily="34" charset="0"/>
                <a:ea typeface="Calibri" pitchFamily="34" charset="-122"/>
                <a:cs typeface="Calibri" pitchFamily="34" charset="-120"/>
              </a:rPr>
              <a:t>The database client reports errors by return value, not by throwing. A rejected write passed unnoticed and the participant was told it saved.</a:t>
            </a:r>
            <a:endParaRPr lang="en-US" sz="1300" dirty="0"/>
          </a:p>
        </p:txBody>
      </p:sp>
      <p:sp>
        <p:nvSpPr>
          <p:cNvPr id="9" name="Shape 6"/>
          <p:cNvSpPr/>
          <p:nvPr/>
        </p:nvSpPr>
        <p:spPr>
          <a:xfrm>
            <a:off x="640080" y="3163824"/>
            <a:ext cx="475488" cy="475488"/>
          </a:xfrm>
          <a:prstGeom prst="ellipse">
            <a:avLst/>
          </a:prstGeom>
          <a:solidFill>
            <a:srgbClr val="0D0B08"/>
          </a:solidFill>
          <a:ln w="15875">
            <a:solidFill>
              <a:srgbClr val="E8A84E"/>
            </a:solidFill>
            <a:prstDash val="solid"/>
          </a:ln>
        </p:spPr>
      </p:sp>
      <p:sp>
        <p:nvSpPr>
          <p:cNvPr id="10" name="Text 7"/>
          <p:cNvSpPr/>
          <p:nvPr/>
        </p:nvSpPr>
        <p:spPr>
          <a:xfrm>
            <a:off x="640080" y="3163824"/>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1353312" y="3090672"/>
            <a:ext cx="39319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Navigating away cancelled the save</a:t>
            </a:r>
            <a:endParaRPr lang="en-US" sz="1400" dirty="0"/>
          </a:p>
        </p:txBody>
      </p:sp>
      <p:sp>
        <p:nvSpPr>
          <p:cNvPr id="12" name="Text 9"/>
          <p:cNvSpPr/>
          <p:nvPr/>
        </p:nvSpPr>
        <p:spPr>
          <a:xfrm>
            <a:off x="5394960" y="3090672"/>
            <a:ext cx="6156655" cy="731520"/>
          </a:xfrm>
          <a:prstGeom prst="rect">
            <a:avLst/>
          </a:prstGeom>
          <a:noFill/>
          <a:ln/>
        </p:spPr>
        <p:txBody>
          <a:bodyPr wrap="square" lIns="0" tIns="0" rIns="0" bIns="0" rtlCol="0" anchor="t"/>
          <a:lstStyle/>
          <a:p>
            <a:pPr indent="0" marL="0">
              <a:lnSpc>
                <a:spcPct val="112000"/>
              </a:lnSpc>
              <a:buNone/>
            </a:pPr>
            <a:r>
              <a:rPr lang="en-US" sz="1300" dirty="0">
                <a:solidFill>
                  <a:srgbClr val="958C80"/>
                </a:solidFill>
                <a:latin typeface="Calibri" pitchFamily="34" charset="0"/>
                <a:ea typeface="Calibri" pitchFamily="34" charset="-122"/>
                <a:cs typeface="Calibri" pitchFamily="34" charset="-120"/>
              </a:rPr>
              <a:t>Buttons are now held until the write confirms, capped at six seconds.</a:t>
            </a:r>
            <a:endParaRPr lang="en-US" sz="1300" dirty="0"/>
          </a:p>
        </p:txBody>
      </p:sp>
      <p:sp>
        <p:nvSpPr>
          <p:cNvPr id="13" name="Shape 10"/>
          <p:cNvSpPr/>
          <p:nvPr/>
        </p:nvSpPr>
        <p:spPr>
          <a:xfrm>
            <a:off x="640080" y="4151376"/>
            <a:ext cx="475488" cy="475488"/>
          </a:xfrm>
          <a:prstGeom prst="ellipse">
            <a:avLst/>
          </a:prstGeom>
          <a:solidFill>
            <a:srgbClr val="0D0B08"/>
          </a:solidFill>
          <a:ln w="15875">
            <a:solidFill>
              <a:srgbClr val="E8A84E"/>
            </a:solidFill>
            <a:prstDash val="solid"/>
          </a:ln>
        </p:spPr>
      </p:sp>
      <p:sp>
        <p:nvSpPr>
          <p:cNvPr id="14" name="Text 11"/>
          <p:cNvSpPr/>
          <p:nvPr/>
        </p:nvSpPr>
        <p:spPr>
          <a:xfrm>
            <a:off x="640080" y="4151376"/>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3</a:t>
            </a:r>
            <a:endParaRPr lang="en-US" sz="1200" dirty="0"/>
          </a:p>
        </p:txBody>
      </p:sp>
      <p:sp>
        <p:nvSpPr>
          <p:cNvPr id="15" name="Text 12"/>
          <p:cNvSpPr/>
          <p:nvPr/>
        </p:nvSpPr>
        <p:spPr>
          <a:xfrm>
            <a:off x="1353312" y="4078224"/>
            <a:ext cx="39319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Errors attached to the wrong question</a:t>
            </a:r>
            <a:endParaRPr lang="en-US" sz="1400" dirty="0"/>
          </a:p>
        </p:txBody>
      </p:sp>
      <p:sp>
        <p:nvSpPr>
          <p:cNvPr id="16" name="Text 13"/>
          <p:cNvSpPr/>
          <p:nvPr/>
        </p:nvSpPr>
        <p:spPr>
          <a:xfrm>
            <a:off x="5394960" y="4078224"/>
            <a:ext cx="6156655" cy="731520"/>
          </a:xfrm>
          <a:prstGeom prst="rect">
            <a:avLst/>
          </a:prstGeom>
          <a:noFill/>
          <a:ln/>
        </p:spPr>
        <p:txBody>
          <a:bodyPr wrap="square" lIns="0" tIns="0" rIns="0" bIns="0" rtlCol="0" anchor="t"/>
          <a:lstStyle/>
          <a:p>
            <a:pPr indent="0" marL="0">
              <a:lnSpc>
                <a:spcPct val="112000"/>
              </a:lnSpc>
              <a:buNone/>
            </a:pPr>
            <a:r>
              <a:rPr lang="en-US" sz="1300" dirty="0">
                <a:solidFill>
                  <a:srgbClr val="958C80"/>
                </a:solidFill>
                <a:latin typeface="Calibri" pitchFamily="34" charset="0"/>
                <a:ea typeface="Calibri" pitchFamily="34" charset="-122"/>
                <a:cs typeface="Calibri" pitchFamily="34" charset="-120"/>
              </a:rPr>
              <a:t>Two question panels coexist during the slide animation.</a:t>
            </a:r>
            <a:endParaRPr lang="en-US" sz="1300" dirty="0"/>
          </a:p>
        </p:txBody>
      </p:sp>
      <p:sp>
        <p:nvSpPr>
          <p:cNvPr id="17" name="Shape 14"/>
          <p:cNvSpPr/>
          <p:nvPr/>
        </p:nvSpPr>
        <p:spPr>
          <a:xfrm>
            <a:off x="640080" y="5138928"/>
            <a:ext cx="475488" cy="475488"/>
          </a:xfrm>
          <a:prstGeom prst="ellipse">
            <a:avLst/>
          </a:prstGeom>
          <a:solidFill>
            <a:srgbClr val="0D0B08"/>
          </a:solidFill>
          <a:ln w="15875">
            <a:solidFill>
              <a:srgbClr val="E8A84E"/>
            </a:solidFill>
            <a:prstDash val="solid"/>
          </a:ln>
        </p:spPr>
      </p:sp>
      <p:sp>
        <p:nvSpPr>
          <p:cNvPr id="18" name="Text 15"/>
          <p:cNvSpPr/>
          <p:nvPr/>
        </p:nvSpPr>
        <p:spPr>
          <a:xfrm>
            <a:off x="640080" y="5138928"/>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4</a:t>
            </a:r>
            <a:endParaRPr lang="en-US" sz="1200" dirty="0"/>
          </a:p>
        </p:txBody>
      </p:sp>
      <p:sp>
        <p:nvSpPr>
          <p:cNvPr id="19" name="Text 16"/>
          <p:cNvSpPr/>
          <p:nvPr/>
        </p:nvSpPr>
        <p:spPr>
          <a:xfrm>
            <a:off x="1353312" y="5065776"/>
            <a:ext cx="3931920" cy="329184"/>
          </a:xfrm>
          <a:prstGeom prst="rect">
            <a:avLst/>
          </a:prstGeom>
          <a:noFill/>
          <a:ln/>
        </p:spPr>
        <p:txBody>
          <a:bodyPr wrap="square" lIns="0" tIns="0" rIns="0" bIns="0" rtlCol="0" anchor="ctr"/>
          <a:lstStyle/>
          <a:p>
            <a:pPr indent="0" marL="0">
              <a:buNone/>
            </a:pPr>
            <a:r>
              <a:rPr lang="en-US" sz="1400" b="1" dirty="0">
                <a:solidFill>
                  <a:srgbClr val="F5F0E8"/>
                </a:solidFill>
                <a:latin typeface="Arial" pitchFamily="34" charset="0"/>
                <a:ea typeface="Arial" pitchFamily="34" charset="-122"/>
                <a:cs typeface="Arial" pitchFamily="34" charset="-120"/>
              </a:rPr>
              <a:t>Review returned you to question 20</a:t>
            </a:r>
            <a:endParaRPr lang="en-US" sz="1400" dirty="0"/>
          </a:p>
        </p:txBody>
      </p:sp>
      <p:sp>
        <p:nvSpPr>
          <p:cNvPr id="20" name="Text 17"/>
          <p:cNvSpPr/>
          <p:nvPr/>
        </p:nvSpPr>
        <p:spPr>
          <a:xfrm>
            <a:off x="5394960" y="5065776"/>
            <a:ext cx="6156655" cy="731520"/>
          </a:xfrm>
          <a:prstGeom prst="rect">
            <a:avLst/>
          </a:prstGeom>
          <a:noFill/>
          <a:ln/>
        </p:spPr>
        <p:txBody>
          <a:bodyPr wrap="square" lIns="0" tIns="0" rIns="0" bIns="0" rtlCol="0" anchor="t"/>
          <a:lstStyle/>
          <a:p>
            <a:pPr indent="0" marL="0">
              <a:lnSpc>
                <a:spcPct val="112000"/>
              </a:lnSpc>
              <a:buNone/>
            </a:pPr>
            <a:r>
              <a:rPr lang="en-US" sz="1300" dirty="0">
                <a:solidFill>
                  <a:srgbClr val="958C80"/>
                </a:solidFill>
                <a:latin typeface="Calibri" pitchFamily="34" charset="0"/>
                <a:ea typeface="Calibri" pitchFamily="34" charset="-122"/>
                <a:cs typeface="Calibri" pitchFamily="34" charset="-120"/>
              </a:rPr>
              <a:t>Rather than to the question you left off at.</a:t>
            </a:r>
            <a:endParaRPr lang="en-US" sz="1300" dirty="0"/>
          </a:p>
        </p:txBody>
      </p:sp>
      <p:sp>
        <p:nvSpPr>
          <p:cNvPr id="21" name="Shape 18"/>
          <p:cNvSpPr/>
          <p:nvPr/>
        </p:nvSpPr>
        <p:spPr>
          <a:xfrm>
            <a:off x="640080" y="6245352"/>
            <a:ext cx="10911535" cy="0"/>
          </a:xfrm>
          <a:prstGeom prst="line">
            <a:avLst/>
          </a:prstGeom>
          <a:noFill/>
          <a:ln w="12700">
            <a:solidFill>
              <a:srgbClr val="332C24"/>
            </a:solidFill>
            <a:prstDash val="solid"/>
          </a:ln>
        </p:spPr>
      </p:sp>
      <p:sp>
        <p:nvSpPr>
          <p:cNvPr id="22" name="Text 19"/>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QUALITY</a:t>
            </a:r>
            <a:endParaRPr lang="en-US" sz="900" dirty="0"/>
          </a:p>
        </p:txBody>
      </p:sp>
      <p:sp>
        <p:nvSpPr>
          <p:cNvPr id="23" name="Text 20"/>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R4 · TESTING</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What we </a:t>
            </a:r>
            <a:pPr indent="0" marL="0">
              <a:buNone/>
            </a:pPr>
            <a:r>
              <a:rPr lang="en-US" sz="3400" b="1" i="1" dirty="0">
                <a:solidFill>
                  <a:srgbClr val="C17F3A"/>
                </a:solidFill>
                <a:latin typeface="Arial" pitchFamily="34" charset="0"/>
                <a:ea typeface="Arial" pitchFamily="34" charset="-122"/>
                <a:cs typeface="Arial" pitchFamily="34" charset="-120"/>
              </a:rPr>
              <a:t>verified.</a:t>
            </a:r>
            <a:endParaRPr lang="en-US" sz="3400" dirty="0"/>
          </a:p>
        </p:txBody>
      </p:sp>
      <p:sp>
        <p:nvSpPr>
          <p:cNvPr id="5" name="Shape 2"/>
          <p:cNvSpPr/>
          <p:nvPr/>
        </p:nvSpPr>
        <p:spPr>
          <a:xfrm>
            <a:off x="640080" y="2103120"/>
            <a:ext cx="5364328" cy="3200400"/>
          </a:xfrm>
          <a:prstGeom prst="roundRect">
            <a:avLst>
              <a:gd name="adj" fmla="val 2571"/>
            </a:avLst>
          </a:prstGeom>
          <a:solidFill>
            <a:srgbClr val="19160F"/>
          </a:solidFill>
          <a:ln w="12700">
            <a:solidFill>
              <a:srgbClr val="332C24"/>
            </a:solidFill>
            <a:prstDash val="solid"/>
          </a:ln>
        </p:spPr>
      </p:sp>
      <p:sp>
        <p:nvSpPr>
          <p:cNvPr id="6" name="Shape 3"/>
          <p:cNvSpPr/>
          <p:nvPr/>
        </p:nvSpPr>
        <p:spPr>
          <a:xfrm>
            <a:off x="1005840" y="2514600"/>
            <a:ext cx="146304" cy="146304"/>
          </a:xfrm>
          <a:prstGeom prst="ellipse">
            <a:avLst/>
          </a:prstGeom>
          <a:solidFill>
            <a:srgbClr val="C17F3A"/>
          </a:solidFill>
          <a:ln w="6350">
            <a:solidFill>
              <a:srgbClr val="C17F3A"/>
            </a:solidFill>
            <a:prstDash val="solid"/>
          </a:ln>
        </p:spPr>
      </p:sp>
      <p:sp>
        <p:nvSpPr>
          <p:cNvPr id="7" name="Text 4"/>
          <p:cNvSpPr/>
          <p:nvPr/>
        </p:nvSpPr>
        <p:spPr>
          <a:xfrm>
            <a:off x="1298448" y="2395728"/>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Incomplete submission</a:t>
            </a:r>
            <a:endParaRPr lang="en-US" sz="1350" dirty="0"/>
          </a:p>
        </p:txBody>
      </p:sp>
      <p:sp>
        <p:nvSpPr>
          <p:cNvPr id="8" name="Text 5"/>
          <p:cNvSpPr/>
          <p:nvPr/>
        </p:nvSpPr>
        <p:spPr>
          <a:xfrm>
            <a:off x="1298448" y="2688336"/>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Refused, nothing written</a:t>
            </a:r>
            <a:endParaRPr lang="en-US" sz="1300" dirty="0"/>
          </a:p>
        </p:txBody>
      </p:sp>
      <p:sp>
        <p:nvSpPr>
          <p:cNvPr id="9" name="Shape 6"/>
          <p:cNvSpPr/>
          <p:nvPr/>
        </p:nvSpPr>
        <p:spPr>
          <a:xfrm>
            <a:off x="1005840" y="3236976"/>
            <a:ext cx="146304" cy="146304"/>
          </a:xfrm>
          <a:prstGeom prst="ellipse">
            <a:avLst/>
          </a:prstGeom>
          <a:solidFill>
            <a:srgbClr val="C17F3A"/>
          </a:solidFill>
          <a:ln w="6350">
            <a:solidFill>
              <a:srgbClr val="C17F3A"/>
            </a:solidFill>
            <a:prstDash val="solid"/>
          </a:ln>
        </p:spPr>
      </p:sp>
      <p:sp>
        <p:nvSpPr>
          <p:cNvPr id="10" name="Text 7"/>
          <p:cNvSpPr/>
          <p:nvPr/>
        </p:nvSpPr>
        <p:spPr>
          <a:xfrm>
            <a:off x="1298448" y="3118104"/>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Error messages</a:t>
            </a:r>
            <a:endParaRPr lang="en-US" sz="1350" dirty="0"/>
          </a:p>
        </p:txBody>
      </p:sp>
      <p:sp>
        <p:nvSpPr>
          <p:cNvPr id="11" name="Text 8"/>
          <p:cNvSpPr/>
          <p:nvPr/>
        </p:nvSpPr>
        <p:spPr>
          <a:xfrm>
            <a:off x="1298448" y="3410712"/>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Correct question, clears on answer</a:t>
            </a:r>
            <a:endParaRPr lang="en-US" sz="1300" dirty="0"/>
          </a:p>
        </p:txBody>
      </p:sp>
      <p:sp>
        <p:nvSpPr>
          <p:cNvPr id="12" name="Shape 9"/>
          <p:cNvSpPr/>
          <p:nvPr/>
        </p:nvSpPr>
        <p:spPr>
          <a:xfrm>
            <a:off x="1005840" y="3959352"/>
            <a:ext cx="146304" cy="146304"/>
          </a:xfrm>
          <a:prstGeom prst="ellipse">
            <a:avLst/>
          </a:prstGeom>
          <a:solidFill>
            <a:srgbClr val="C17F3A"/>
          </a:solidFill>
          <a:ln w="6350">
            <a:solidFill>
              <a:srgbClr val="C17F3A"/>
            </a:solidFill>
            <a:prstDash val="solid"/>
          </a:ln>
        </p:spPr>
      </p:sp>
      <p:sp>
        <p:nvSpPr>
          <p:cNvPr id="13" name="Text 10"/>
          <p:cNvSpPr/>
          <p:nvPr/>
        </p:nvSpPr>
        <p:spPr>
          <a:xfrm>
            <a:off x="1298448" y="3840480"/>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Scoring</a:t>
            </a:r>
            <a:endParaRPr lang="en-US" sz="1350" dirty="0"/>
          </a:p>
        </p:txBody>
      </p:sp>
      <p:sp>
        <p:nvSpPr>
          <p:cNvPr id="14" name="Text 11"/>
          <p:cNvSpPr/>
          <p:nvPr/>
        </p:nvSpPr>
        <p:spPr>
          <a:xfrm>
            <a:off x="1298448" y="4133088"/>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Checked against manual calculation</a:t>
            </a:r>
            <a:endParaRPr lang="en-US" sz="1300" dirty="0"/>
          </a:p>
        </p:txBody>
      </p:sp>
      <p:sp>
        <p:nvSpPr>
          <p:cNvPr id="15" name="Shape 12"/>
          <p:cNvSpPr/>
          <p:nvPr/>
        </p:nvSpPr>
        <p:spPr>
          <a:xfrm>
            <a:off x="1005840" y="4681728"/>
            <a:ext cx="146304" cy="146304"/>
          </a:xfrm>
          <a:prstGeom prst="ellipse">
            <a:avLst/>
          </a:prstGeom>
          <a:solidFill>
            <a:srgbClr val="C17F3A"/>
          </a:solidFill>
          <a:ln w="6350">
            <a:solidFill>
              <a:srgbClr val="C17F3A"/>
            </a:solidFill>
            <a:prstDash val="solid"/>
          </a:ln>
        </p:spPr>
      </p:sp>
      <p:sp>
        <p:nvSpPr>
          <p:cNvPr id="16" name="Text 13"/>
          <p:cNvSpPr/>
          <p:nvPr/>
        </p:nvSpPr>
        <p:spPr>
          <a:xfrm>
            <a:off x="1298448" y="4562856"/>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Demographics</a:t>
            </a:r>
            <a:endParaRPr lang="en-US" sz="1350" dirty="0"/>
          </a:p>
        </p:txBody>
      </p:sp>
      <p:sp>
        <p:nvSpPr>
          <p:cNvPr id="17" name="Text 14"/>
          <p:cNvSpPr/>
          <p:nvPr/>
        </p:nvSpPr>
        <p:spPr>
          <a:xfrm>
            <a:off x="1298448" y="4855464"/>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Accept, decline and skip paths</a:t>
            </a:r>
            <a:endParaRPr lang="en-US" sz="1300" dirty="0"/>
          </a:p>
        </p:txBody>
      </p:sp>
      <p:sp>
        <p:nvSpPr>
          <p:cNvPr id="18" name="Shape 15"/>
          <p:cNvSpPr/>
          <p:nvPr/>
        </p:nvSpPr>
        <p:spPr>
          <a:xfrm>
            <a:off x="6187288" y="2103120"/>
            <a:ext cx="5364328" cy="3200400"/>
          </a:xfrm>
          <a:prstGeom prst="roundRect">
            <a:avLst>
              <a:gd name="adj" fmla="val 2571"/>
            </a:avLst>
          </a:prstGeom>
          <a:solidFill>
            <a:srgbClr val="19160F"/>
          </a:solidFill>
          <a:ln w="12700">
            <a:solidFill>
              <a:srgbClr val="332C24"/>
            </a:solidFill>
            <a:prstDash val="solid"/>
          </a:ln>
        </p:spPr>
      </p:sp>
      <p:sp>
        <p:nvSpPr>
          <p:cNvPr id="19" name="Shape 16"/>
          <p:cNvSpPr/>
          <p:nvPr/>
        </p:nvSpPr>
        <p:spPr>
          <a:xfrm>
            <a:off x="6553048" y="2514600"/>
            <a:ext cx="146304" cy="146304"/>
          </a:xfrm>
          <a:prstGeom prst="ellipse">
            <a:avLst/>
          </a:prstGeom>
          <a:solidFill>
            <a:srgbClr val="C17F3A"/>
          </a:solidFill>
          <a:ln w="6350">
            <a:solidFill>
              <a:srgbClr val="C17F3A"/>
            </a:solidFill>
            <a:prstDash val="solid"/>
          </a:ln>
        </p:spPr>
      </p:sp>
      <p:sp>
        <p:nvSpPr>
          <p:cNvPr id="20" name="Text 17"/>
          <p:cNvSpPr/>
          <p:nvPr/>
        </p:nvSpPr>
        <p:spPr>
          <a:xfrm>
            <a:off x="6845656" y="2395728"/>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Dashboard</a:t>
            </a:r>
            <a:endParaRPr lang="en-US" sz="1350" dirty="0"/>
          </a:p>
        </p:txBody>
      </p:sp>
      <p:sp>
        <p:nvSpPr>
          <p:cNvPr id="21" name="Text 18"/>
          <p:cNvSpPr/>
          <p:nvPr/>
        </p:nvSpPr>
        <p:spPr>
          <a:xfrm>
            <a:off x="6845656" y="2688336"/>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All eight counts checked by hand</a:t>
            </a:r>
            <a:endParaRPr lang="en-US" sz="1300" dirty="0"/>
          </a:p>
        </p:txBody>
      </p:sp>
      <p:sp>
        <p:nvSpPr>
          <p:cNvPr id="22" name="Shape 19"/>
          <p:cNvSpPr/>
          <p:nvPr/>
        </p:nvSpPr>
        <p:spPr>
          <a:xfrm>
            <a:off x="6553048" y="3236976"/>
            <a:ext cx="146304" cy="146304"/>
          </a:xfrm>
          <a:prstGeom prst="ellipse">
            <a:avLst/>
          </a:prstGeom>
          <a:solidFill>
            <a:srgbClr val="C17F3A"/>
          </a:solidFill>
          <a:ln w="6350">
            <a:solidFill>
              <a:srgbClr val="C17F3A"/>
            </a:solidFill>
            <a:prstDash val="solid"/>
          </a:ln>
        </p:spPr>
      </p:sp>
      <p:sp>
        <p:nvSpPr>
          <p:cNvPr id="23" name="Text 20"/>
          <p:cNvSpPr/>
          <p:nvPr/>
        </p:nvSpPr>
        <p:spPr>
          <a:xfrm>
            <a:off x="6845656" y="3118104"/>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Degraded mode</a:t>
            </a:r>
            <a:endParaRPr lang="en-US" sz="1350" dirty="0"/>
          </a:p>
        </p:txBody>
      </p:sp>
      <p:sp>
        <p:nvSpPr>
          <p:cNvPr id="24" name="Text 21"/>
          <p:cNvSpPr/>
          <p:nvPr/>
        </p:nvSpPr>
        <p:spPr>
          <a:xfrm>
            <a:off x="6845656" y="3410712"/>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Loads and explains, never breaks</a:t>
            </a:r>
            <a:endParaRPr lang="en-US" sz="1300" dirty="0"/>
          </a:p>
        </p:txBody>
      </p:sp>
      <p:sp>
        <p:nvSpPr>
          <p:cNvPr id="25" name="Shape 22"/>
          <p:cNvSpPr/>
          <p:nvPr/>
        </p:nvSpPr>
        <p:spPr>
          <a:xfrm>
            <a:off x="6553048" y="3959352"/>
            <a:ext cx="146304" cy="146304"/>
          </a:xfrm>
          <a:prstGeom prst="ellipse">
            <a:avLst/>
          </a:prstGeom>
          <a:solidFill>
            <a:srgbClr val="C17F3A"/>
          </a:solidFill>
          <a:ln w="6350">
            <a:solidFill>
              <a:srgbClr val="C17F3A"/>
            </a:solidFill>
            <a:prstDash val="solid"/>
          </a:ln>
        </p:spPr>
      </p:sp>
      <p:sp>
        <p:nvSpPr>
          <p:cNvPr id="26" name="Text 23"/>
          <p:cNvSpPr/>
          <p:nvPr/>
        </p:nvSpPr>
        <p:spPr>
          <a:xfrm>
            <a:off x="6845656" y="3840480"/>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Keyboard and mobile</a:t>
            </a:r>
            <a:endParaRPr lang="en-US" sz="1350" dirty="0"/>
          </a:p>
        </p:txBody>
      </p:sp>
      <p:sp>
        <p:nvSpPr>
          <p:cNvPr id="27" name="Text 24"/>
          <p:cNvSpPr/>
          <p:nvPr/>
        </p:nvSpPr>
        <p:spPr>
          <a:xfrm>
            <a:off x="6845656" y="4133088"/>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Verified down to 375px</a:t>
            </a:r>
            <a:endParaRPr lang="en-US" sz="1300" dirty="0"/>
          </a:p>
        </p:txBody>
      </p:sp>
      <p:sp>
        <p:nvSpPr>
          <p:cNvPr id="28" name="Shape 25"/>
          <p:cNvSpPr/>
          <p:nvPr/>
        </p:nvSpPr>
        <p:spPr>
          <a:xfrm>
            <a:off x="6553048" y="4681728"/>
            <a:ext cx="146304" cy="146304"/>
          </a:xfrm>
          <a:prstGeom prst="ellipse">
            <a:avLst/>
          </a:prstGeom>
          <a:solidFill>
            <a:srgbClr val="C17F3A"/>
          </a:solidFill>
          <a:ln w="6350">
            <a:solidFill>
              <a:srgbClr val="C17F3A"/>
            </a:solidFill>
            <a:prstDash val="solid"/>
          </a:ln>
        </p:spPr>
      </p:sp>
      <p:sp>
        <p:nvSpPr>
          <p:cNvPr id="29" name="Text 26"/>
          <p:cNvSpPr/>
          <p:nvPr/>
        </p:nvSpPr>
        <p:spPr>
          <a:xfrm>
            <a:off x="6845656" y="4562856"/>
            <a:ext cx="4358488" cy="292608"/>
          </a:xfrm>
          <a:prstGeom prst="rect">
            <a:avLst/>
          </a:prstGeom>
          <a:noFill/>
          <a:ln/>
        </p:spPr>
        <p:txBody>
          <a:bodyPr wrap="square" lIns="0" tIns="0" rIns="0" bIns="0" rtlCol="0" anchor="ctr"/>
          <a:lstStyle/>
          <a:p>
            <a:pPr indent="0" marL="0">
              <a:buNone/>
            </a:pPr>
            <a:r>
              <a:rPr lang="en-US" sz="1350" b="1" dirty="0">
                <a:solidFill>
                  <a:srgbClr val="F5F0E8"/>
                </a:solidFill>
                <a:latin typeface="Arial" pitchFamily="34" charset="0"/>
                <a:ea typeface="Arial" pitchFamily="34" charset="-122"/>
                <a:cs typeface="Arial" pitchFamily="34" charset="-120"/>
              </a:rPr>
              <a:t>Formal test script</a:t>
            </a:r>
            <a:endParaRPr lang="en-US" sz="1350" dirty="0"/>
          </a:p>
        </p:txBody>
      </p:sp>
      <p:sp>
        <p:nvSpPr>
          <p:cNvPr id="30" name="Text 27"/>
          <p:cNvSpPr/>
          <p:nvPr/>
        </p:nvSpPr>
        <p:spPr>
          <a:xfrm>
            <a:off x="6845656" y="4855464"/>
            <a:ext cx="4358488" cy="329184"/>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Written, ready for the tester</a:t>
            </a:r>
            <a:endParaRPr lang="en-US" sz="1300" dirty="0"/>
          </a:p>
        </p:txBody>
      </p:sp>
      <p:sp>
        <p:nvSpPr>
          <p:cNvPr id="31" name="Shape 28"/>
          <p:cNvSpPr/>
          <p:nvPr/>
        </p:nvSpPr>
        <p:spPr>
          <a:xfrm>
            <a:off x="640080" y="6245352"/>
            <a:ext cx="10911535" cy="0"/>
          </a:xfrm>
          <a:prstGeom prst="line">
            <a:avLst/>
          </a:prstGeom>
          <a:noFill/>
          <a:ln w="12700">
            <a:solidFill>
              <a:srgbClr val="332C24"/>
            </a:solidFill>
            <a:prstDash val="solid"/>
          </a:ln>
        </p:spPr>
      </p:sp>
      <p:sp>
        <p:nvSpPr>
          <p:cNvPr id="32" name="Text 29"/>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TESTING</a:t>
            </a:r>
            <a:endParaRPr lang="en-US" sz="900" dirty="0"/>
          </a:p>
        </p:txBody>
      </p:sp>
      <p:sp>
        <p:nvSpPr>
          <p:cNvPr id="33" name="Text 30"/>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B08"/>
        </a:solidFill>
      </p:bgPr>
    </p:bg>
    <p:spTree>
      <p:nvGrpSpPr>
        <p:cNvPr id="1" name=""/>
        <p:cNvGrpSpPr/>
        <p:nvPr/>
      </p:nvGrpSpPr>
      <p:grpSpPr>
        <a:xfrm>
          <a:off x="0" y="0"/>
          <a:ext cx="0" cy="0"/>
          <a:chOff x="0" y="0"/>
          <a:chExt cx="0" cy="0"/>
        </a:xfrm>
      </p:grpSpPr>
      <p:sp>
        <p:nvSpPr>
          <p:cNvPr id="3" name="Text 0"/>
          <p:cNvSpPr/>
          <p:nvPr/>
        </p:nvSpPr>
        <p:spPr>
          <a:xfrm>
            <a:off x="640080" y="420624"/>
            <a:ext cx="10911535" cy="256032"/>
          </a:xfrm>
          <a:prstGeom prst="rect">
            <a:avLst/>
          </a:prstGeom>
          <a:noFill/>
          <a:ln/>
        </p:spPr>
        <p:txBody>
          <a:bodyPr wrap="square" lIns="0" tIns="0" rIns="0" bIns="0" rtlCol="0" anchor="ctr"/>
          <a:lstStyle/>
          <a:p>
            <a:pPr indent="0" marL="0">
              <a:buNone/>
            </a:pPr>
            <a:r>
              <a:rPr lang="en-US" sz="1050" b="1" spc="300" kern="0" dirty="0">
                <a:solidFill>
                  <a:srgbClr val="C17F3A"/>
                </a:solidFill>
                <a:latin typeface="Arial" pitchFamily="34" charset="0"/>
                <a:ea typeface="Arial" pitchFamily="34" charset="-122"/>
                <a:cs typeface="Arial" pitchFamily="34" charset="-120"/>
              </a:rPr>
              <a:t>SEQUENCED NEXT</a:t>
            </a:r>
            <a:endParaRPr lang="en-US" sz="1050" dirty="0"/>
          </a:p>
        </p:txBody>
      </p:sp>
      <p:sp>
        <p:nvSpPr>
          <p:cNvPr id="4" name="Text 1"/>
          <p:cNvSpPr/>
          <p:nvPr/>
        </p:nvSpPr>
        <p:spPr>
          <a:xfrm>
            <a:off x="640080" y="777240"/>
            <a:ext cx="10911535" cy="868680"/>
          </a:xfrm>
          <a:prstGeom prst="rect">
            <a:avLst/>
          </a:prstGeom>
          <a:noFill/>
          <a:ln/>
        </p:spPr>
        <p:txBody>
          <a:bodyPr wrap="square" lIns="0" tIns="0" rIns="0" bIns="0" rtlCol="0" anchor="t"/>
          <a:lstStyle/>
          <a:p>
            <a:pPr indent="0" marL="0">
              <a:buNone/>
            </a:pPr>
            <a:r>
              <a:rPr lang="en-US" sz="3400" b="1" dirty="0">
                <a:solidFill>
                  <a:srgbClr val="F5F0E8"/>
                </a:solidFill>
                <a:latin typeface="Arial" pitchFamily="34" charset="0"/>
                <a:ea typeface="Arial" pitchFamily="34" charset="-122"/>
                <a:cs typeface="Arial" pitchFamily="34" charset="-120"/>
              </a:rPr>
              <a:t>Outstanding </a:t>
            </a:r>
            <a:pPr indent="0" marL="0">
              <a:buNone/>
            </a:pPr>
            <a:r>
              <a:rPr lang="en-US" sz="3400" b="1" i="1" dirty="0">
                <a:solidFill>
                  <a:srgbClr val="C17F3A"/>
                </a:solidFill>
                <a:latin typeface="Arial" pitchFamily="34" charset="0"/>
                <a:ea typeface="Arial" pitchFamily="34" charset="-122"/>
                <a:cs typeface="Arial" pitchFamily="34" charset="-120"/>
              </a:rPr>
              <a:t>items.</a:t>
            </a:r>
            <a:endParaRPr lang="en-US" sz="3400" dirty="0"/>
          </a:p>
        </p:txBody>
      </p:sp>
      <p:sp>
        <p:nvSpPr>
          <p:cNvPr id="5" name="Shape 2"/>
          <p:cNvSpPr/>
          <p:nvPr/>
        </p:nvSpPr>
        <p:spPr>
          <a:xfrm>
            <a:off x="640080" y="2066544"/>
            <a:ext cx="10911535" cy="877824"/>
          </a:xfrm>
          <a:prstGeom prst="roundRect">
            <a:avLst>
              <a:gd name="adj" fmla="val 9375"/>
            </a:avLst>
          </a:prstGeom>
          <a:solidFill>
            <a:srgbClr val="19160F"/>
          </a:solidFill>
          <a:ln w="12700">
            <a:solidFill>
              <a:srgbClr val="332C24"/>
            </a:solidFill>
            <a:prstDash val="solid"/>
          </a:ln>
        </p:spPr>
      </p:sp>
      <p:sp>
        <p:nvSpPr>
          <p:cNvPr id="6" name="Shape 3"/>
          <p:cNvSpPr/>
          <p:nvPr/>
        </p:nvSpPr>
        <p:spPr>
          <a:xfrm>
            <a:off x="950976" y="2267712"/>
            <a:ext cx="475488" cy="475488"/>
          </a:xfrm>
          <a:prstGeom prst="ellipse">
            <a:avLst/>
          </a:prstGeom>
          <a:solidFill>
            <a:srgbClr val="0D0B08"/>
          </a:solidFill>
          <a:ln w="15875">
            <a:solidFill>
              <a:srgbClr val="E8A84E"/>
            </a:solidFill>
            <a:prstDash val="solid"/>
          </a:ln>
        </p:spPr>
      </p:sp>
      <p:sp>
        <p:nvSpPr>
          <p:cNvPr id="7" name="Text 4"/>
          <p:cNvSpPr/>
          <p:nvPr/>
        </p:nvSpPr>
        <p:spPr>
          <a:xfrm>
            <a:off x="950976" y="2267712"/>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1</a:t>
            </a:r>
            <a:endParaRPr lang="en-US" sz="1200" dirty="0"/>
          </a:p>
        </p:txBody>
      </p:sp>
      <p:sp>
        <p:nvSpPr>
          <p:cNvPr id="8" name="Text 5"/>
          <p:cNvSpPr/>
          <p:nvPr/>
        </p:nvSpPr>
        <p:spPr>
          <a:xfrm>
            <a:off x="1664208" y="2176272"/>
            <a:ext cx="3108960" cy="310896"/>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Database migration</a:t>
            </a:r>
            <a:endParaRPr lang="en-US" sz="1450" dirty="0"/>
          </a:p>
        </p:txBody>
      </p:sp>
      <p:sp>
        <p:nvSpPr>
          <p:cNvPr id="9" name="Text 6"/>
          <p:cNvSpPr/>
          <p:nvPr/>
        </p:nvSpPr>
        <p:spPr>
          <a:xfrm>
            <a:off x="1664208" y="2496312"/>
            <a:ext cx="9448495" cy="347472"/>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Written and reviewed. Additive — creates one table and alters nothing existing.</a:t>
            </a:r>
            <a:endParaRPr lang="en-US" sz="1300" dirty="0"/>
          </a:p>
        </p:txBody>
      </p:sp>
      <p:sp>
        <p:nvSpPr>
          <p:cNvPr id="10" name="Shape 7"/>
          <p:cNvSpPr/>
          <p:nvPr/>
        </p:nvSpPr>
        <p:spPr>
          <a:xfrm>
            <a:off x="640080" y="3054096"/>
            <a:ext cx="10911535" cy="877824"/>
          </a:xfrm>
          <a:prstGeom prst="roundRect">
            <a:avLst>
              <a:gd name="adj" fmla="val 9375"/>
            </a:avLst>
          </a:prstGeom>
          <a:solidFill>
            <a:srgbClr val="19160F"/>
          </a:solidFill>
          <a:ln w="12700">
            <a:solidFill>
              <a:srgbClr val="332C24"/>
            </a:solidFill>
            <a:prstDash val="solid"/>
          </a:ln>
        </p:spPr>
      </p:sp>
      <p:sp>
        <p:nvSpPr>
          <p:cNvPr id="11" name="Shape 8"/>
          <p:cNvSpPr/>
          <p:nvPr/>
        </p:nvSpPr>
        <p:spPr>
          <a:xfrm>
            <a:off x="950976" y="3255264"/>
            <a:ext cx="475488" cy="475488"/>
          </a:xfrm>
          <a:prstGeom prst="ellipse">
            <a:avLst/>
          </a:prstGeom>
          <a:solidFill>
            <a:srgbClr val="0D0B08"/>
          </a:solidFill>
          <a:ln w="15875">
            <a:solidFill>
              <a:srgbClr val="E8A84E"/>
            </a:solidFill>
            <a:prstDash val="solid"/>
          </a:ln>
        </p:spPr>
      </p:sp>
      <p:sp>
        <p:nvSpPr>
          <p:cNvPr id="12" name="Text 9"/>
          <p:cNvSpPr/>
          <p:nvPr/>
        </p:nvSpPr>
        <p:spPr>
          <a:xfrm>
            <a:off x="950976" y="3255264"/>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2</a:t>
            </a:r>
            <a:endParaRPr lang="en-US" sz="1200" dirty="0"/>
          </a:p>
        </p:txBody>
      </p:sp>
      <p:sp>
        <p:nvSpPr>
          <p:cNvPr id="13" name="Text 10"/>
          <p:cNvSpPr/>
          <p:nvPr/>
        </p:nvSpPr>
        <p:spPr>
          <a:xfrm>
            <a:off x="1664208" y="3163824"/>
            <a:ext cx="3108960" cy="310896"/>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Testing phase</a:t>
            </a:r>
            <a:endParaRPr lang="en-US" sz="1450" dirty="0"/>
          </a:p>
        </p:txBody>
      </p:sp>
      <p:sp>
        <p:nvSpPr>
          <p:cNvPr id="14" name="Text 11"/>
          <p:cNvSpPr/>
          <p:nvPr/>
        </p:nvSpPr>
        <p:spPr>
          <a:xfrm>
            <a:off x="1664208" y="3483864"/>
            <a:ext cx="9448495" cy="347472"/>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The build enters formal testing against the written script.</a:t>
            </a:r>
            <a:endParaRPr lang="en-US" sz="1300" dirty="0"/>
          </a:p>
        </p:txBody>
      </p:sp>
      <p:sp>
        <p:nvSpPr>
          <p:cNvPr id="15" name="Shape 12"/>
          <p:cNvSpPr/>
          <p:nvPr/>
        </p:nvSpPr>
        <p:spPr>
          <a:xfrm>
            <a:off x="640080" y="4041648"/>
            <a:ext cx="10911535" cy="877824"/>
          </a:xfrm>
          <a:prstGeom prst="roundRect">
            <a:avLst>
              <a:gd name="adj" fmla="val 9375"/>
            </a:avLst>
          </a:prstGeom>
          <a:solidFill>
            <a:srgbClr val="19160F"/>
          </a:solidFill>
          <a:ln w="12700">
            <a:solidFill>
              <a:srgbClr val="332C24"/>
            </a:solidFill>
            <a:prstDash val="solid"/>
          </a:ln>
        </p:spPr>
      </p:sp>
      <p:sp>
        <p:nvSpPr>
          <p:cNvPr id="16" name="Shape 13"/>
          <p:cNvSpPr/>
          <p:nvPr/>
        </p:nvSpPr>
        <p:spPr>
          <a:xfrm>
            <a:off x="950976" y="4242816"/>
            <a:ext cx="475488" cy="475488"/>
          </a:xfrm>
          <a:prstGeom prst="ellipse">
            <a:avLst/>
          </a:prstGeom>
          <a:solidFill>
            <a:srgbClr val="0D0B08"/>
          </a:solidFill>
          <a:ln w="15875">
            <a:solidFill>
              <a:srgbClr val="E8A84E"/>
            </a:solidFill>
            <a:prstDash val="solid"/>
          </a:ln>
        </p:spPr>
      </p:sp>
      <p:sp>
        <p:nvSpPr>
          <p:cNvPr id="17" name="Text 14"/>
          <p:cNvSpPr/>
          <p:nvPr/>
        </p:nvSpPr>
        <p:spPr>
          <a:xfrm>
            <a:off x="950976" y="4242816"/>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3</a:t>
            </a:r>
            <a:endParaRPr lang="en-US" sz="1200" dirty="0"/>
          </a:p>
        </p:txBody>
      </p:sp>
      <p:sp>
        <p:nvSpPr>
          <p:cNvPr id="18" name="Text 15"/>
          <p:cNvSpPr/>
          <p:nvPr/>
        </p:nvSpPr>
        <p:spPr>
          <a:xfrm>
            <a:off x="1664208" y="4151376"/>
            <a:ext cx="3108960" cy="310896"/>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Deployment</a:t>
            </a:r>
            <a:endParaRPr lang="en-US" sz="1450" dirty="0"/>
          </a:p>
        </p:txBody>
      </p:sp>
      <p:sp>
        <p:nvSpPr>
          <p:cNvPr id="19" name="Text 16"/>
          <p:cNvSpPr/>
          <p:nvPr/>
        </p:nvSpPr>
        <p:spPr>
          <a:xfrm>
            <a:off x="1664208" y="4471416"/>
            <a:ext cx="9448495" cy="347472"/>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Follows test sign-off. We do not publish straight to the live site.</a:t>
            </a:r>
            <a:endParaRPr lang="en-US" sz="1300" dirty="0"/>
          </a:p>
        </p:txBody>
      </p:sp>
      <p:sp>
        <p:nvSpPr>
          <p:cNvPr id="20" name="Shape 17"/>
          <p:cNvSpPr/>
          <p:nvPr/>
        </p:nvSpPr>
        <p:spPr>
          <a:xfrm>
            <a:off x="640080" y="5029200"/>
            <a:ext cx="10911535" cy="877824"/>
          </a:xfrm>
          <a:prstGeom prst="roundRect">
            <a:avLst>
              <a:gd name="adj" fmla="val 9375"/>
            </a:avLst>
          </a:prstGeom>
          <a:solidFill>
            <a:srgbClr val="19160F"/>
          </a:solidFill>
          <a:ln w="12700">
            <a:solidFill>
              <a:srgbClr val="332C24"/>
            </a:solidFill>
            <a:prstDash val="solid"/>
          </a:ln>
        </p:spPr>
      </p:sp>
      <p:sp>
        <p:nvSpPr>
          <p:cNvPr id="21" name="Shape 18"/>
          <p:cNvSpPr/>
          <p:nvPr/>
        </p:nvSpPr>
        <p:spPr>
          <a:xfrm>
            <a:off x="950976" y="5230368"/>
            <a:ext cx="475488" cy="475488"/>
          </a:xfrm>
          <a:prstGeom prst="ellipse">
            <a:avLst/>
          </a:prstGeom>
          <a:solidFill>
            <a:srgbClr val="0D0B08"/>
          </a:solidFill>
          <a:ln w="15875">
            <a:solidFill>
              <a:srgbClr val="E8A84E"/>
            </a:solidFill>
            <a:prstDash val="solid"/>
          </a:ln>
        </p:spPr>
      </p:sp>
      <p:sp>
        <p:nvSpPr>
          <p:cNvPr id="22" name="Text 19"/>
          <p:cNvSpPr/>
          <p:nvPr/>
        </p:nvSpPr>
        <p:spPr>
          <a:xfrm>
            <a:off x="950976" y="5230368"/>
            <a:ext cx="475488" cy="475488"/>
          </a:xfrm>
          <a:prstGeom prst="rect">
            <a:avLst/>
          </a:prstGeom>
          <a:noFill/>
          <a:ln/>
        </p:spPr>
        <p:txBody>
          <a:bodyPr wrap="square" lIns="0" tIns="0" rIns="0" bIns="0" rtlCol="0" anchor="ctr"/>
          <a:lstStyle/>
          <a:p>
            <a:pPr algn="ctr" indent="0" marL="0">
              <a:buNone/>
            </a:pPr>
            <a:r>
              <a:rPr lang="en-US" sz="1200" b="1" dirty="0">
                <a:solidFill>
                  <a:srgbClr val="E8A84E"/>
                </a:solidFill>
                <a:latin typeface="Arial" pitchFamily="34" charset="0"/>
                <a:ea typeface="Arial" pitchFamily="34" charset="-122"/>
                <a:cs typeface="Arial" pitchFamily="34" charset="-120"/>
              </a:rPr>
              <a:t>4</a:t>
            </a:r>
            <a:endParaRPr lang="en-US" sz="1200" dirty="0"/>
          </a:p>
        </p:txBody>
      </p:sp>
      <p:sp>
        <p:nvSpPr>
          <p:cNvPr id="23" name="Text 20"/>
          <p:cNvSpPr/>
          <p:nvPr/>
        </p:nvSpPr>
        <p:spPr>
          <a:xfrm>
            <a:off x="1664208" y="5138928"/>
            <a:ext cx="3108960" cy="310896"/>
          </a:xfrm>
          <a:prstGeom prst="rect">
            <a:avLst/>
          </a:prstGeom>
          <a:noFill/>
          <a:ln/>
        </p:spPr>
        <p:txBody>
          <a:bodyPr wrap="square" lIns="0" tIns="0" rIns="0" bIns="0" rtlCol="0" anchor="ctr"/>
          <a:lstStyle/>
          <a:p>
            <a:pPr indent="0" marL="0">
              <a:buNone/>
            </a:pPr>
            <a:r>
              <a:rPr lang="en-US" sz="1450" b="1" dirty="0">
                <a:solidFill>
                  <a:srgbClr val="F5F0E8"/>
                </a:solidFill>
                <a:latin typeface="Arial" pitchFamily="34" charset="0"/>
                <a:ea typeface="Arial" pitchFamily="34" charset="-122"/>
                <a:cs typeface="Arial" pitchFamily="34" charset="-120"/>
              </a:rPr>
              <a:t>Email recipient</a:t>
            </a:r>
            <a:endParaRPr lang="en-US" sz="1450" dirty="0"/>
          </a:p>
        </p:txBody>
      </p:sp>
      <p:sp>
        <p:nvSpPr>
          <p:cNvPr id="24" name="Text 21"/>
          <p:cNvSpPr/>
          <p:nvPr/>
        </p:nvSpPr>
        <p:spPr>
          <a:xfrm>
            <a:off x="1664208" y="5458968"/>
            <a:ext cx="9448495" cy="347472"/>
          </a:xfrm>
          <a:prstGeom prst="rect">
            <a:avLst/>
          </a:prstGeom>
          <a:noFill/>
          <a:ln/>
        </p:spPr>
        <p:txBody>
          <a:bodyPr wrap="square" lIns="0" tIns="0" rIns="0" bIns="0" rtlCol="0" anchor="t"/>
          <a:lstStyle/>
          <a:p>
            <a:pPr indent="0" marL="0">
              <a:buNone/>
            </a:pPr>
            <a:r>
              <a:rPr lang="en-US" sz="1300" dirty="0">
                <a:solidFill>
                  <a:srgbClr val="958C80"/>
                </a:solidFill>
                <a:latin typeface="Calibri" pitchFamily="34" charset="0"/>
                <a:ea typeface="Calibri" pitchFamily="34" charset="-122"/>
                <a:cs typeface="Calibri" pitchFamily="34" charset="-120"/>
              </a:rPr>
              <a:t>Switches from the development address before participants are recruited.</a:t>
            </a:r>
            <a:endParaRPr lang="en-US" sz="1300" dirty="0"/>
          </a:p>
        </p:txBody>
      </p:sp>
      <p:sp>
        <p:nvSpPr>
          <p:cNvPr id="25" name="Shape 22"/>
          <p:cNvSpPr/>
          <p:nvPr/>
        </p:nvSpPr>
        <p:spPr>
          <a:xfrm>
            <a:off x="640080" y="6245352"/>
            <a:ext cx="10911535" cy="0"/>
          </a:xfrm>
          <a:prstGeom prst="line">
            <a:avLst/>
          </a:prstGeom>
          <a:noFill/>
          <a:ln w="12700">
            <a:solidFill>
              <a:srgbClr val="332C24"/>
            </a:solidFill>
            <a:prstDash val="solid"/>
          </a:ln>
        </p:spPr>
      </p:sp>
      <p:sp>
        <p:nvSpPr>
          <p:cNvPr id="26" name="Text 23"/>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NEXT</a:t>
            </a:r>
            <a:endParaRPr lang="en-US" sz="900" dirty="0"/>
          </a:p>
        </p:txBody>
      </p:sp>
      <p:sp>
        <p:nvSpPr>
          <p:cNvPr id="27" name="Text 24"/>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B08"/>
        </a:solidFill>
      </p:bgPr>
    </p:bg>
    <p:spTree>
      <p:nvGrpSpPr>
        <p:cNvPr id="1" name=""/>
        <p:cNvGrpSpPr/>
        <p:nvPr/>
      </p:nvGrpSpPr>
      <p:grpSpPr>
        <a:xfrm>
          <a:off x="0" y="0"/>
          <a:ext cx="0" cy="0"/>
          <a:chOff x="0" y="0"/>
          <a:chExt cx="0" cy="0"/>
        </a:xfrm>
      </p:grpSpPr>
      <p:sp>
        <p:nvSpPr>
          <p:cNvPr id="3" name="Shape 0"/>
          <p:cNvSpPr/>
          <p:nvPr/>
        </p:nvSpPr>
        <p:spPr>
          <a:xfrm>
            <a:off x="5477256" y="1691640"/>
            <a:ext cx="1234440" cy="1234440"/>
          </a:xfrm>
          <a:prstGeom prst="ellipse">
            <a:avLst/>
          </a:prstGeom>
          <a:solidFill>
            <a:srgbClr val="0D0B08"/>
          </a:solidFill>
          <a:ln w="15875">
            <a:solidFill>
              <a:srgbClr val="332C24"/>
            </a:solidFill>
            <a:prstDash val="solid"/>
          </a:ln>
        </p:spPr>
      </p:sp>
      <p:sp>
        <p:nvSpPr>
          <p:cNvPr id="4" name="Shape 1"/>
          <p:cNvSpPr/>
          <p:nvPr/>
        </p:nvSpPr>
        <p:spPr>
          <a:xfrm>
            <a:off x="5870448" y="2084832"/>
            <a:ext cx="457200" cy="457200"/>
          </a:xfrm>
          <a:prstGeom prst="ellipse">
            <a:avLst/>
          </a:prstGeom>
          <a:solidFill>
            <a:srgbClr val="C17F3A"/>
          </a:solidFill>
          <a:ln w="12700">
            <a:solidFill>
              <a:srgbClr val="E8A84E"/>
            </a:solidFill>
            <a:prstDash val="solid"/>
          </a:ln>
        </p:spPr>
      </p:sp>
      <p:sp>
        <p:nvSpPr>
          <p:cNvPr id="5" name="Text 2"/>
          <p:cNvSpPr/>
          <p:nvPr/>
        </p:nvSpPr>
        <p:spPr>
          <a:xfrm>
            <a:off x="640080" y="3154680"/>
            <a:ext cx="10911535" cy="274320"/>
          </a:xfrm>
          <a:prstGeom prst="rect">
            <a:avLst/>
          </a:prstGeom>
          <a:noFill/>
          <a:ln/>
        </p:spPr>
        <p:txBody>
          <a:bodyPr wrap="square" lIns="0" tIns="0" rIns="0" bIns="0" rtlCol="0" anchor="ctr"/>
          <a:lstStyle/>
          <a:p>
            <a:pPr algn="ctr" indent="0" marL="0">
              <a:buNone/>
            </a:pPr>
            <a:r>
              <a:rPr lang="en-US" sz="1050" b="1" spc="300" kern="0" dirty="0">
                <a:solidFill>
                  <a:srgbClr val="C17F3A"/>
                </a:solidFill>
                <a:latin typeface="Arial" pitchFamily="34" charset="0"/>
                <a:ea typeface="Arial" pitchFamily="34" charset="-122"/>
                <a:cs typeface="Arial" pitchFamily="34" charset="-120"/>
              </a:rPr>
              <a:t>SPRINT 3  ·  PEDAGOGY EVALUATION PLATFORM</a:t>
            </a:r>
            <a:endParaRPr lang="en-US" sz="1050" dirty="0"/>
          </a:p>
        </p:txBody>
      </p:sp>
      <p:sp>
        <p:nvSpPr>
          <p:cNvPr id="6" name="Text 3"/>
          <p:cNvSpPr/>
          <p:nvPr/>
        </p:nvSpPr>
        <p:spPr>
          <a:xfrm>
            <a:off x="640080" y="3520440"/>
            <a:ext cx="10911535" cy="914400"/>
          </a:xfrm>
          <a:prstGeom prst="rect">
            <a:avLst/>
          </a:prstGeom>
          <a:noFill/>
          <a:ln/>
        </p:spPr>
        <p:txBody>
          <a:bodyPr wrap="square" lIns="0" tIns="0" rIns="0" bIns="0" rtlCol="0" anchor="ctr"/>
          <a:lstStyle/>
          <a:p>
            <a:pPr algn="ctr" indent="0" marL="0">
              <a:buNone/>
            </a:pPr>
            <a:r>
              <a:rPr lang="en-US" sz="4400" b="1" dirty="0">
                <a:solidFill>
                  <a:srgbClr val="F5F0E8"/>
                </a:solidFill>
                <a:latin typeface="Arial" pitchFamily="34" charset="0"/>
                <a:ea typeface="Arial" pitchFamily="34" charset="-122"/>
                <a:cs typeface="Arial" pitchFamily="34" charset="-120"/>
              </a:rPr>
              <a:t>Questions?</a:t>
            </a:r>
            <a:endParaRPr lang="en-US" sz="4400" dirty="0"/>
          </a:p>
        </p:txBody>
      </p:sp>
      <p:sp>
        <p:nvSpPr>
          <p:cNvPr id="7" name="Text 4"/>
          <p:cNvSpPr/>
          <p:nvPr/>
        </p:nvSpPr>
        <p:spPr>
          <a:xfrm>
            <a:off x="640080" y="4526280"/>
            <a:ext cx="10911535" cy="457200"/>
          </a:xfrm>
          <a:prstGeom prst="rect">
            <a:avLst/>
          </a:prstGeom>
          <a:noFill/>
          <a:ln/>
        </p:spPr>
        <p:txBody>
          <a:bodyPr wrap="square" lIns="0" tIns="0" rIns="0" bIns="0" rtlCol="0" anchor="ctr"/>
          <a:lstStyle/>
          <a:p>
            <a:pPr algn="ctr" indent="0" marL="0">
              <a:buNone/>
            </a:pPr>
            <a:r>
              <a:rPr lang="en-US" sz="1400" dirty="0">
                <a:solidFill>
                  <a:srgbClr val="958C80"/>
                </a:solidFill>
                <a:latin typeface="Calibri" pitchFamily="34" charset="0"/>
                <a:ea typeface="Calibri" pitchFamily="34" charset="-122"/>
                <a:cs typeface="Calibri" pitchFamily="34" charset="-120"/>
              </a:rPr>
              <a:t>Mushfiqur Rahman  ·  Shafiullah Anik  ·  Albin Roy  ·  Merajun Nabi</a:t>
            </a:r>
            <a:endParaRPr lang="en-US" sz="1400" dirty="0"/>
          </a:p>
        </p:txBody>
      </p:sp>
      <p:sp>
        <p:nvSpPr>
          <p:cNvPr id="8" name="Shape 5"/>
          <p:cNvSpPr/>
          <p:nvPr/>
        </p:nvSpPr>
        <p:spPr>
          <a:xfrm>
            <a:off x="640080" y="6245352"/>
            <a:ext cx="10911535" cy="0"/>
          </a:xfrm>
          <a:prstGeom prst="line">
            <a:avLst/>
          </a:prstGeom>
          <a:noFill/>
          <a:ln w="12700">
            <a:solidFill>
              <a:srgbClr val="332C24"/>
            </a:solidFill>
            <a:prstDash val="solid"/>
          </a:ln>
        </p:spPr>
      </p:sp>
      <p:sp>
        <p:nvSpPr>
          <p:cNvPr id="9" name="Text 6"/>
          <p:cNvSpPr/>
          <p:nvPr/>
        </p:nvSpPr>
        <p:spPr>
          <a:xfrm>
            <a:off x="640080" y="6327648"/>
            <a:ext cx="5455768" cy="274320"/>
          </a:xfrm>
          <a:prstGeom prst="rect">
            <a:avLst/>
          </a:prstGeom>
          <a:noFill/>
          <a:ln/>
        </p:spPr>
        <p:txBody>
          <a:bodyPr wrap="square" lIns="0" tIns="0" rIns="0" bIns="0" rtlCol="0" anchor="ctr"/>
          <a:lstStyle/>
          <a:p>
            <a:pPr indent="0" marL="0">
              <a:buNone/>
            </a:pPr>
            <a:r>
              <a:rPr lang="en-US" sz="900" spc="200" kern="0" dirty="0">
                <a:solidFill>
                  <a:srgbClr val="5B5348"/>
                </a:solidFill>
                <a:latin typeface="Arial" pitchFamily="34" charset="0"/>
                <a:ea typeface="Arial" pitchFamily="34" charset="-122"/>
                <a:cs typeface="Arial" pitchFamily="34" charset="-120"/>
              </a:rPr>
              <a:t>THANK YOU</a:t>
            </a:r>
            <a:endParaRPr lang="en-US" sz="900" dirty="0"/>
          </a:p>
        </p:txBody>
      </p:sp>
      <p:sp>
        <p:nvSpPr>
          <p:cNvPr id="10" name="Text 7"/>
          <p:cNvSpPr/>
          <p:nvPr/>
        </p:nvSpPr>
        <p:spPr>
          <a:xfrm>
            <a:off x="6095848" y="6327648"/>
            <a:ext cx="5455768" cy="274320"/>
          </a:xfrm>
          <a:prstGeom prst="rect">
            <a:avLst/>
          </a:prstGeom>
          <a:noFill/>
          <a:ln/>
        </p:spPr>
        <p:txBody>
          <a:bodyPr wrap="square" lIns="0" tIns="0" rIns="0" bIns="0" rtlCol="0" anchor="ctr"/>
          <a:lstStyle/>
          <a:p>
            <a:pPr algn="r" indent="0" marL="0">
              <a:buNone/>
            </a:pPr>
            <a:r>
              <a:rPr lang="en-US" sz="900" spc="200" kern="0" dirty="0">
                <a:solidFill>
                  <a:srgbClr val="5B5348"/>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Pedagogy Evaluation Platform — Sprint 3</dc:title>
  <dc:subject>PptxGenJS Presentation</dc:subject>
  <dc:creator>Mushfiqur Rahman, Shafiullah Anik, Albin Roy, Merajun Nabi</dc:creator>
  <cp:lastModifiedBy>Mushfiqur Rahman, Shafiullah Anik, Albin Roy, Merajun Nabi</cp:lastModifiedBy>
  <cp:revision>1</cp:revision>
  <dcterms:created xsi:type="dcterms:W3CDTF">2026-08-17T06:57:26Z</dcterms:created>
  <dcterms:modified xsi:type="dcterms:W3CDTF">2026-08-17T06:57:26Z</dcterms:modified>
</cp:coreProperties>
</file>